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3" r:id="rId4"/>
    <p:sldId id="258" r:id="rId5"/>
    <p:sldId id="259" r:id="rId6"/>
    <p:sldId id="284" r:id="rId7"/>
    <p:sldId id="261" r:id="rId8"/>
    <p:sldId id="267" r:id="rId9"/>
    <p:sldId id="292" r:id="rId10"/>
    <p:sldId id="263" r:id="rId11"/>
    <p:sldId id="285" r:id="rId12"/>
    <p:sldId id="264" r:id="rId13"/>
    <p:sldId id="276" r:id="rId14"/>
    <p:sldId id="279" r:id="rId15"/>
    <p:sldId id="278" r:id="rId16"/>
    <p:sldId id="291" r:id="rId17"/>
    <p:sldId id="280" r:id="rId18"/>
    <p:sldId id="286" r:id="rId19"/>
    <p:sldId id="266" r:id="rId20"/>
    <p:sldId id="281" r:id="rId21"/>
    <p:sldId id="287" r:id="rId22"/>
    <p:sldId id="269" r:id="rId23"/>
    <p:sldId id="288" r:id="rId24"/>
    <p:sldId id="289" r:id="rId25"/>
    <p:sldId id="274" r:id="rId26"/>
    <p:sldId id="270" r:id="rId27"/>
  </p:sldIdLst>
  <p:sldSz cx="24384000" cy="13716000"/>
  <p:notesSz cx="6858000" cy="9144000"/>
  <p:embeddedFontLst>
    <p:embeddedFont>
      <p:font typeface="Gmarket Sans Bold" panose="020B0600000101010101" charset="-127"/>
      <p:bold r:id="rId29"/>
    </p:embeddedFont>
    <p:embeddedFont>
      <p:font typeface="Gmarket Sans Medium" panose="020B0600000101010101" charset="-127"/>
      <p:regular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Hallym Gothic Bold" panose="020B0803000000000000" pitchFamily="50" charset="-127"/>
      <p:bold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3984" userDrawn="1">
          <p15:clr>
            <a:srgbClr val="A4A3A4"/>
          </p15:clr>
        </p15:guide>
        <p15:guide id="3" orient="horz" pos="7968" userDrawn="1">
          <p15:clr>
            <a:srgbClr val="A4A3A4"/>
          </p15:clr>
        </p15:guide>
        <p15:guide id="5" pos="10032" userDrawn="1">
          <p15:clr>
            <a:srgbClr val="A4A3A4"/>
          </p15:clr>
        </p15:guide>
        <p15:guide id="6" pos="1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73CDD4"/>
    <a:srgbClr val="4C5CAF"/>
    <a:srgbClr val="EEEEEE"/>
    <a:srgbClr val="CEC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075" autoAdjust="0"/>
  </p:normalViewPr>
  <p:slideViewPr>
    <p:cSldViewPr>
      <p:cViewPr varScale="1">
        <p:scale>
          <a:sx n="48" d="100"/>
          <a:sy n="48" d="100"/>
        </p:scale>
        <p:origin x="114" y="204"/>
      </p:cViewPr>
      <p:guideLst>
        <p:guide orient="horz" pos="1008"/>
        <p:guide pos="3984"/>
        <p:guide orient="horz" pos="7968"/>
        <p:guide pos="10032"/>
        <p:guide pos="13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416A1-2A9A-4FAD-A6B3-7E1874271AFC}" type="datetimeFigureOut">
              <a:rPr lang="ko-KR" altLang="en-US" smtClean="0"/>
              <a:t>2024-08-26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CAEA2-CEE5-4A9C-9F90-A41D818A7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42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876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관심이 몰리고있다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586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비교표를 보여주면서 마지막에 대기업도 자사제품 광고로 인해 과징금을 받았다</a:t>
            </a:r>
            <a:endParaRPr lang="en-US" altLang="ko-KR" dirty="0"/>
          </a:p>
          <a:p>
            <a:r>
              <a:rPr lang="ko-KR" altLang="en-US" dirty="0"/>
              <a:t>그러면서</a:t>
            </a:r>
            <a:r>
              <a:rPr lang="en-US" altLang="ko-KR" dirty="0"/>
              <a:t>~ </a:t>
            </a:r>
            <a:r>
              <a:rPr lang="ko-KR" altLang="en-US" dirty="0"/>
              <a:t>우리가 </a:t>
            </a:r>
            <a:r>
              <a:rPr lang="ko-KR" altLang="en-US" dirty="0" err="1"/>
              <a:t>자사제품없는</a:t>
            </a:r>
            <a:r>
              <a:rPr lang="ko-KR" altLang="en-US" dirty="0"/>
              <a:t> 영양제추천사이트를 </a:t>
            </a:r>
            <a:r>
              <a:rPr lang="ko-KR" altLang="en-US" dirty="0" err="1"/>
              <a:t>만들었따</a:t>
            </a:r>
            <a:r>
              <a:rPr lang="en-US" altLang="ko-KR" dirty="0"/>
              <a:t>!!!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876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사용 강조</a:t>
            </a:r>
            <a:r>
              <a:rPr lang="en-US" altLang="ko-KR" dirty="0"/>
              <a:t>!!!!!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322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넘어가기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779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넘어가기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932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메인화면은</a:t>
            </a:r>
            <a:r>
              <a:rPr lang="ko-KR" altLang="en-US" dirty="0"/>
              <a:t> 동적으로 </a:t>
            </a:r>
            <a:r>
              <a:rPr lang="ko-KR" altLang="en-US" dirty="0" err="1"/>
              <a:t>움직인다는거</a:t>
            </a:r>
            <a:r>
              <a:rPr lang="ko-KR" altLang="en-US" dirty="0"/>
              <a:t> 강조</a:t>
            </a:r>
            <a:endParaRPr lang="en-US" altLang="ko-KR" dirty="0"/>
          </a:p>
          <a:p>
            <a:r>
              <a:rPr lang="ko-KR" altLang="en-US" dirty="0"/>
              <a:t>그 다음 설문조사 후 영양제 추천 버튼을 누르고 설문조사 제출을 누르면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036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추천결과페이지로 간다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166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마이페이지에서 그 전에 했던 결과를 다시 볼 </a:t>
            </a:r>
            <a:r>
              <a:rPr lang="ko-KR" altLang="en-US" dirty="0" err="1"/>
              <a:t>수있다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884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342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051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602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CAEA2-CEE5-4A9C-9F90-A41D818A725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34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4.png"/><Relationship Id="rId5" Type="http://schemas.openxmlformats.org/officeDocument/2006/relationships/image" Target="../media/image15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gif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15.png"/><Relationship Id="rId10" Type="http://schemas.openxmlformats.org/officeDocument/2006/relationships/image" Target="../media/image53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gif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6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60.gif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7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2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64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7.png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5.png"/><Relationship Id="rId7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eg"/><Relationship Id="rId3" Type="http://schemas.openxmlformats.org/officeDocument/2006/relationships/image" Target="../media/image13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jpg"/><Relationship Id="rId11" Type="http://schemas.openxmlformats.org/officeDocument/2006/relationships/image" Target="../media/image82.jpeg"/><Relationship Id="rId5" Type="http://schemas.openxmlformats.org/officeDocument/2006/relationships/image" Target="../media/image2.png"/><Relationship Id="rId10" Type="http://schemas.openxmlformats.org/officeDocument/2006/relationships/image" Target="../media/image81.jpeg"/><Relationship Id="rId4" Type="http://schemas.openxmlformats.org/officeDocument/2006/relationships/image" Target="../media/image1.png"/><Relationship Id="rId9" Type="http://schemas.openxmlformats.org/officeDocument/2006/relationships/image" Target="../media/image80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89.png"/><Relationship Id="rId4" Type="http://schemas.openxmlformats.org/officeDocument/2006/relationships/image" Target="../media/image85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6827500" y="54356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46400" y="-5080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300" y="8902700"/>
            <a:ext cx="4940300" cy="4940300"/>
          </a:xfrm>
          <a:prstGeom prst="rect">
            <a:avLst/>
          </a:prstGeom>
          <a:effectLst>
            <a:outerShdw blurRad="486683" dist="532329" dir="2220000">
              <a:srgbClr val="000000">
                <a:alpha val="34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800" y="38227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0" y="736600"/>
            <a:ext cx="1473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444500"/>
            <a:ext cx="12319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400" y="10871200"/>
            <a:ext cx="3162300" cy="318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622300"/>
            <a:ext cx="2120900" cy="212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67600" y="5702300"/>
            <a:ext cx="9436100" cy="337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109"/>
              </a:lnSpc>
            </a:pPr>
            <a:r>
              <a:rPr lang="ko-KR" altLang="en-US" sz="10300" spc="-800" dirty="0">
                <a:solidFill>
                  <a:srgbClr val="3A4CA8"/>
                </a:solidFill>
                <a:latin typeface="+mn-ea"/>
                <a:ea typeface="Gmarket Sans Bold"/>
              </a:rPr>
              <a:t>영양제 </a:t>
            </a:r>
            <a:r>
              <a:rPr lang="ko-KR" sz="10300" b="0" i="0" u="none" strike="noStrike" spc="-800" dirty="0">
                <a:solidFill>
                  <a:srgbClr val="3A4CA8"/>
                </a:solidFill>
                <a:ea typeface="Gmarket Sans Bold"/>
              </a:rPr>
              <a:t>추천</a:t>
            </a:r>
            <a:r>
              <a:rPr lang="en-US" sz="10300" b="0" i="0" u="none" strike="noStrike" spc="-800" dirty="0">
                <a:solidFill>
                  <a:srgbClr val="3A4CA8"/>
                </a:solidFill>
                <a:latin typeface="Gmarket Sans Bold"/>
              </a:rPr>
              <a:t> </a:t>
            </a:r>
            <a:r>
              <a:rPr lang="ko-KR" sz="10300" b="0" i="0" u="none" strike="noStrike" spc="-800" dirty="0">
                <a:solidFill>
                  <a:srgbClr val="3A4CA8"/>
                </a:solidFill>
                <a:ea typeface="Gmarket Sans Bold"/>
              </a:rPr>
              <a:t>및</a:t>
            </a:r>
          </a:p>
          <a:p>
            <a:pPr lvl="0" algn="ctr">
              <a:lnSpc>
                <a:spcPct val="97109"/>
              </a:lnSpc>
            </a:pPr>
            <a:r>
              <a:rPr lang="ko-KR" sz="10300" b="0" i="0" u="none" strike="noStrike" spc="-800" dirty="0">
                <a:solidFill>
                  <a:srgbClr val="3A4CA8"/>
                </a:solidFill>
                <a:ea typeface="Gmarket Sans Bold"/>
              </a:rPr>
              <a:t>정보</a:t>
            </a:r>
            <a:r>
              <a:rPr lang="en-US" sz="10300" b="0" i="0" u="none" strike="noStrike" spc="-8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10300" b="0" i="0" u="none" strike="noStrike" spc="-800" dirty="0">
                <a:solidFill>
                  <a:srgbClr val="3A4CA8"/>
                </a:solidFill>
                <a:ea typeface="Gmarket Sans Bold"/>
              </a:rPr>
              <a:t>제공</a:t>
            </a:r>
            <a:r>
              <a:rPr lang="en-US" sz="10300" b="0" i="0" u="none" strike="noStrike" spc="-8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10300" b="0" i="0" u="none" strike="noStrike" spc="-800" dirty="0">
                <a:solidFill>
                  <a:srgbClr val="3A4CA8"/>
                </a:solidFill>
                <a:ea typeface="Gmarket Sans Bold"/>
              </a:rPr>
              <a:t>서비스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45800" y="9525000"/>
            <a:ext cx="28321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300" b="0" i="0" u="none" strike="noStrike" spc="-500" dirty="0">
                <a:solidFill>
                  <a:srgbClr val="3A4CA8"/>
                </a:solidFill>
                <a:ea typeface="Gmarket Sans Medium"/>
              </a:rPr>
              <a:t>사운드팀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1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5067300"/>
            <a:ext cx="1651000" cy="196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600" y="3213100"/>
            <a:ext cx="4114800" cy="232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100" y="4038600"/>
            <a:ext cx="1778000" cy="1790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00" y="5168900"/>
            <a:ext cx="13881100" cy="6337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5700" cy="15862300"/>
          </a:xfrm>
          <a:prstGeom prst="rect">
            <a:avLst/>
          </a:prstGeom>
        </p:spPr>
      </p:pic>
      <p:pic>
        <p:nvPicPr>
          <p:cNvPr id="4" name="Picture 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4552950" y="-5073650"/>
            <a:ext cx="12103100" cy="1352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2200" y="-2057400"/>
            <a:ext cx="5842000" cy="584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0400" y="12369800"/>
            <a:ext cx="1892300" cy="2260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771900" y="6019800"/>
            <a:ext cx="25527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6000"/>
              </a:lnSpc>
            </a:pPr>
            <a:r>
              <a:rPr lang="ko-KR" sz="4800" b="0" i="0" u="none" strike="noStrike" spc="-500" dirty="0">
                <a:solidFill>
                  <a:srgbClr val="3A4CA8"/>
                </a:solidFill>
                <a:ea typeface="Gmarket Sans Medium"/>
              </a:rPr>
              <a:t>제안</a:t>
            </a:r>
            <a:r>
              <a:rPr lang="en-US" sz="4800" b="0" i="0" u="none" strike="noStrike" spc="-500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4800" b="0" i="0" u="none" strike="noStrike" spc="-500" dirty="0">
                <a:solidFill>
                  <a:srgbClr val="3A4CA8"/>
                </a:solidFill>
                <a:ea typeface="Gmarket Sans Medium"/>
              </a:rPr>
              <a:t>배경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24150" y="6330950"/>
            <a:ext cx="787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24150" y="7727950"/>
            <a:ext cx="482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24150" y="9188450"/>
            <a:ext cx="59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03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3600" y="5041900"/>
            <a:ext cx="2222500" cy="2247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alphaModFix amt="7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400" y="965200"/>
            <a:ext cx="4622800" cy="209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2600" y="1117600"/>
            <a:ext cx="3289300" cy="1854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900" y="48641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3733800" y="7391400"/>
            <a:ext cx="35052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6000"/>
              </a:lnSpc>
            </a:pPr>
            <a:r>
              <a:rPr lang="ko-KR" sz="4800" b="0" i="0" u="none" strike="noStrike" spc="-500" dirty="0">
                <a:solidFill>
                  <a:srgbClr val="3A4CA8"/>
                </a:solidFill>
                <a:ea typeface="Gmarket Sans Medium"/>
              </a:rPr>
              <a:t>설계</a:t>
            </a:r>
            <a:r>
              <a:rPr lang="en-US" sz="4800" b="0" i="0" u="none" strike="noStrike" spc="-500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4800" b="0" i="0" u="none" strike="noStrike" spc="-500" dirty="0">
                <a:solidFill>
                  <a:srgbClr val="3A4CA8"/>
                </a:solidFill>
                <a:ea typeface="Gmarket Sans Medium"/>
              </a:rPr>
              <a:t>과정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59200" y="8839200"/>
            <a:ext cx="2794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6000"/>
              </a:lnSpc>
            </a:pPr>
            <a:r>
              <a:rPr lang="ko-KR" sz="4800" b="0" i="0" u="none" strike="noStrike" spc="-500" dirty="0">
                <a:solidFill>
                  <a:srgbClr val="3A4CA8"/>
                </a:solidFill>
                <a:ea typeface="Gmarket Sans Medium"/>
              </a:rPr>
              <a:t>구현</a:t>
            </a:r>
            <a:r>
              <a:rPr lang="en-US" sz="4800" b="0" i="0" u="none" strike="noStrike" spc="-500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4800" b="0" i="0" u="none" strike="noStrike" spc="-500" dirty="0">
                <a:solidFill>
                  <a:srgbClr val="3A4CA8"/>
                </a:solidFill>
                <a:ea typeface="Gmarket Sans Medium"/>
              </a:rPr>
              <a:t>내용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34600" y="5702300"/>
            <a:ext cx="3733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6000"/>
              </a:lnSpc>
            </a:pPr>
            <a:r>
              <a:rPr lang="ko-KR" altLang="en-US" sz="4800" spc="-500" dirty="0">
                <a:solidFill>
                  <a:srgbClr val="3A4CA8"/>
                </a:solidFill>
                <a:ea typeface="Gmarket Sans Medium"/>
              </a:rPr>
              <a:t>트러블 슈팅</a:t>
            </a:r>
            <a:endParaRPr lang="ko-KR" sz="4800" b="0" i="0" u="none" strike="noStrike" spc="-500" dirty="0">
              <a:solidFill>
                <a:srgbClr val="3A4CA8"/>
              </a:solidFill>
              <a:ea typeface="Gmarket Sans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134600" y="7162800"/>
            <a:ext cx="4343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6000"/>
              </a:lnSpc>
            </a:pPr>
            <a:r>
              <a:rPr lang="ko-KR" altLang="en-US" sz="4800" spc="-500" dirty="0">
                <a:solidFill>
                  <a:srgbClr val="3A4CA8"/>
                </a:solidFill>
                <a:ea typeface="Gmarket Sans Medium"/>
              </a:rPr>
              <a:t>향후 발전 및 방향</a:t>
            </a:r>
            <a:endParaRPr lang="ko-KR" sz="4800" b="0" i="0" u="none" strike="noStrike" spc="-500" dirty="0">
              <a:solidFill>
                <a:srgbClr val="3A4CA8"/>
              </a:solidFill>
              <a:ea typeface="Gmarket Sans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147300" y="8521700"/>
            <a:ext cx="24257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6000"/>
              </a:lnSpc>
            </a:pPr>
            <a:r>
              <a:rPr lang="ko-KR" altLang="en-US" sz="4800" spc="-500" dirty="0">
                <a:solidFill>
                  <a:srgbClr val="3A4CA8"/>
                </a:solidFill>
                <a:ea typeface="Gmarket Sans Medium"/>
              </a:rPr>
              <a:t>시연 영상</a:t>
            </a:r>
            <a:endParaRPr lang="ko-KR" sz="4800" b="0" i="0" u="none" strike="noStrike" spc="-500" dirty="0">
              <a:solidFill>
                <a:srgbClr val="3A4CA8"/>
              </a:solidFill>
              <a:ea typeface="Gmarket Sans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12900" y="1968500"/>
            <a:ext cx="3073400" cy="189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0700" b="0" i="0" u="none" strike="noStrike" spc="-1000" dirty="0">
                <a:solidFill>
                  <a:srgbClr val="56C5CE"/>
                </a:solidFill>
                <a:ea typeface="Gmarket Sans Bold"/>
              </a:rPr>
              <a:t>목차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9700" y="6032500"/>
            <a:ext cx="787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29700" y="7543800"/>
            <a:ext cx="787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42400" y="8839200"/>
            <a:ext cx="787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1800" y="1803400"/>
            <a:ext cx="1168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900" b="0" i="0" u="none" strike="noStrike" spc="-200" dirty="0">
                <a:solidFill>
                  <a:srgbClr val="FFFFFF"/>
                </a:solidFill>
                <a:latin typeface="Gmarket Sans Bold"/>
              </a:rPr>
              <a:t>index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02447350-3316-4E2A-C268-E00CCD7B312A}"/>
              </a:ext>
            </a:extLst>
          </p:cNvPr>
          <p:cNvSpPr txBox="1"/>
          <p:nvPr/>
        </p:nvSpPr>
        <p:spPr>
          <a:xfrm>
            <a:off x="9105901" y="10299700"/>
            <a:ext cx="7874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07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4AE33DFD-DC05-B03E-30B9-57DCAB4A2623}"/>
              </a:ext>
            </a:extLst>
          </p:cNvPr>
          <p:cNvSpPr txBox="1"/>
          <p:nvPr/>
        </p:nvSpPr>
        <p:spPr>
          <a:xfrm>
            <a:off x="10134600" y="9969500"/>
            <a:ext cx="24257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66000"/>
              </a:lnSpc>
            </a:pPr>
            <a:r>
              <a:rPr lang="ko-KR" altLang="en-US" sz="4800" spc="-500" dirty="0">
                <a:solidFill>
                  <a:srgbClr val="3A4CA8"/>
                </a:solidFill>
                <a:ea typeface="Gmarket Sans Medium"/>
              </a:rPr>
              <a:t>팀원 소개 </a:t>
            </a:r>
            <a:endParaRPr lang="ko-KR" sz="4800" b="0" i="0" u="none" strike="noStrike" spc="-500" dirty="0">
              <a:solidFill>
                <a:srgbClr val="3A4CA8"/>
              </a:solidFill>
              <a:ea typeface="Gmarket Sa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6827500" y="54356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46400" y="-5080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300" y="8902700"/>
            <a:ext cx="4940300" cy="4940300"/>
          </a:xfrm>
          <a:prstGeom prst="rect">
            <a:avLst/>
          </a:prstGeom>
          <a:effectLst>
            <a:outerShdw blurRad="486683" dist="532329" dir="2220000">
              <a:srgbClr val="000000">
                <a:alpha val="34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800" y="38227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0" y="736600"/>
            <a:ext cx="1473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444500"/>
            <a:ext cx="12319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400" y="10871200"/>
            <a:ext cx="3162300" cy="318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622300"/>
            <a:ext cx="2120900" cy="212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67600" y="5702300"/>
            <a:ext cx="9436100" cy="337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109"/>
              </a:lnSpc>
            </a:pPr>
            <a:r>
              <a:rPr lang="ko-KR" altLang="en-US" sz="10300" b="0" i="0" u="none" strike="noStrike" spc="-800" dirty="0">
                <a:solidFill>
                  <a:srgbClr val="3A4CA8"/>
                </a:solidFill>
                <a:ea typeface="Gmarket Sans Bold"/>
              </a:rPr>
              <a:t>제안배경</a:t>
            </a:r>
            <a:endParaRPr lang="ko-KR" sz="10300" b="0" i="0" u="none" strike="noStrike" spc="-800" dirty="0">
              <a:solidFill>
                <a:srgbClr val="3A4CA8"/>
              </a:solidFill>
              <a:ea typeface="Gmarket Sans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5067300"/>
            <a:ext cx="1651000" cy="196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600" y="3213100"/>
            <a:ext cx="4114800" cy="232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100" y="4038600"/>
            <a:ext cx="1778000" cy="1790700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03768EF-0DAA-8C64-1D07-99A32958D5D9}"/>
              </a:ext>
            </a:extLst>
          </p:cNvPr>
          <p:cNvSpPr txBox="1"/>
          <p:nvPr/>
        </p:nvSpPr>
        <p:spPr>
          <a:xfrm>
            <a:off x="8280400" y="70358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338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463800" y="-48641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2400300"/>
            <a:ext cx="22453600" cy="1045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7127" y="11095759"/>
            <a:ext cx="10160000" cy="749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600" y="2882900"/>
            <a:ext cx="10337800" cy="7747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038600"/>
            <a:ext cx="10147300" cy="781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3073400"/>
            <a:ext cx="8229600" cy="1104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273300" y="952500"/>
            <a:ext cx="2705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제안</a:t>
            </a:r>
            <a:r>
              <a:rPr lang="en-US" sz="4800" b="0" i="0" u="none" strike="noStrike" spc="-40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배경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10922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81600" y="977900"/>
            <a:ext cx="38354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4D65DD"/>
                </a:solidFill>
                <a:ea typeface="Gmarket Sans Bold"/>
              </a:rPr>
              <a:t>시장</a:t>
            </a:r>
            <a:r>
              <a:rPr lang="en-US" sz="4800" b="0" i="0" u="none" strike="noStrike" spc="-400" dirty="0">
                <a:solidFill>
                  <a:srgbClr val="4D65DD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4D65DD"/>
                </a:solidFill>
                <a:ea typeface="Gmarket Sans Bold"/>
              </a:rPr>
              <a:t>현황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086100" y="-45974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2400300"/>
            <a:ext cx="22453600" cy="104521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720442"/>
              </p:ext>
            </p:extLst>
          </p:nvPr>
        </p:nvGraphicFramePr>
        <p:xfrm>
          <a:off x="4064000" y="3263900"/>
          <a:ext cx="16713200" cy="8610600"/>
        </p:xfrm>
        <a:graphic>
          <a:graphicData uri="http://schemas.openxmlformats.org/drawingml/2006/table">
            <a:tbl>
              <a:tblPr/>
              <a:tblGrid>
                <a:gridCol w="417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84400"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4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AI </a:t>
                      </a: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기반</a:t>
                      </a:r>
                      <a:r>
                        <a:rPr lang="en-US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 </a:t>
                      </a: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맞춤형</a:t>
                      </a:r>
                      <a:endParaRPr lang="en-US" sz="1100" dirty="0">
                        <a:latin typeface="Gmarket Sans Medium" panose="020B0600000101010101" charset="-127"/>
                        <a:ea typeface="Gmarket Sans Medium" panose="020B0600000101010101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영양제</a:t>
                      </a:r>
                      <a:r>
                        <a:rPr lang="en-US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 </a:t>
                      </a: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추천</a:t>
                      </a:r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자유게시판</a:t>
                      </a:r>
                      <a:r>
                        <a:rPr lang="en-US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 </a:t>
                      </a: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유무</a:t>
                      </a:r>
                      <a:endParaRPr lang="en-US" sz="1100" dirty="0">
                        <a:latin typeface="Gmarket Sans Medium" panose="020B0600000101010101" charset="-127"/>
                        <a:ea typeface="Gmarket Sans Medium" panose="020B0600000101010101" charset="-127"/>
                      </a:endParaRPr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자사제품</a:t>
                      </a:r>
                      <a:r>
                        <a:rPr lang="en-US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 </a:t>
                      </a: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판매</a:t>
                      </a:r>
                      <a:r>
                        <a:rPr lang="en-US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 </a:t>
                      </a:r>
                      <a:r>
                        <a:rPr lang="ko-KR" sz="2200" b="0" i="0" u="none" strike="noStrike" dirty="0">
                          <a:solidFill>
                            <a:srgbClr val="787878"/>
                          </a:solidFill>
                          <a:latin typeface="Gmarket Sans Medium" panose="020B0600000101010101" charset="-127"/>
                          <a:ea typeface="Gmarket Sans Medium" panose="020B0600000101010101" charset="-127"/>
                        </a:rPr>
                        <a:t>유무</a:t>
                      </a:r>
                      <a:endParaRPr lang="en-US" sz="1100" dirty="0">
                        <a:latin typeface="Gmarket Sans Medium" panose="020B0600000101010101" charset="-127"/>
                        <a:ea typeface="Gmarket Sans Medium" panose="020B0600000101010101" charset="-127"/>
                      </a:endParaRPr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marL="19050" marR="19050" marT="19050" marB="19050" anchor="ctr">
                    <a:lnL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6100" y="3467100"/>
            <a:ext cx="3289300" cy="185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9700" y="3810000"/>
            <a:ext cx="33147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100" y="3441700"/>
            <a:ext cx="2070100" cy="1854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0" y="6057900"/>
            <a:ext cx="939800" cy="939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0" y="8216900"/>
            <a:ext cx="863600" cy="86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8900" y="8216900"/>
            <a:ext cx="863600" cy="86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0700" y="10477500"/>
            <a:ext cx="863600" cy="863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800" y="6057900"/>
            <a:ext cx="939800" cy="939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4500" y="6057900"/>
            <a:ext cx="939800" cy="939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4500" y="8140700"/>
            <a:ext cx="939800" cy="939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8900" y="10388600"/>
            <a:ext cx="939800" cy="939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10426700"/>
            <a:ext cx="939800" cy="939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273300" y="952500"/>
            <a:ext cx="2705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제안</a:t>
            </a:r>
            <a:r>
              <a:rPr lang="en-US" sz="4800" b="0" i="0" u="none" strike="noStrike" spc="-40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배경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1600" y="10922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32400" y="939800"/>
            <a:ext cx="43053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>
                <a:solidFill>
                  <a:srgbClr val="4D65DD"/>
                </a:solidFill>
                <a:ea typeface="Gmarket Sans Bold"/>
              </a:rPr>
              <a:t>유사</a:t>
            </a:r>
            <a:r>
              <a:rPr lang="en-US" sz="4800" b="0" i="0" u="none" strike="noStrike" spc="-400">
                <a:solidFill>
                  <a:srgbClr val="4D65DD"/>
                </a:solidFill>
                <a:latin typeface="Gmarket Sans Bold"/>
              </a:rPr>
              <a:t> </a:t>
            </a:r>
            <a:r>
              <a:rPr lang="ko-KR" sz="4800" b="0" i="0" u="none" strike="noStrike" spc="-400">
                <a:solidFill>
                  <a:srgbClr val="4D65DD"/>
                </a:solidFill>
                <a:ea typeface="Gmarket Sans Bold"/>
              </a:rPr>
              <a:t>서비스</a:t>
            </a:r>
            <a:r>
              <a:rPr lang="en-US" sz="4800" b="0" i="0" u="none" strike="noStrike" spc="-400">
                <a:solidFill>
                  <a:srgbClr val="4D65DD"/>
                </a:solidFill>
                <a:latin typeface="Gmarket Sans Bold"/>
              </a:rPr>
              <a:t> </a:t>
            </a:r>
            <a:r>
              <a:rPr lang="ko-KR" sz="4800" b="0" i="0" u="none" strike="noStrike" spc="-400">
                <a:solidFill>
                  <a:srgbClr val="4D65DD"/>
                </a:solidFill>
                <a:ea typeface="Gmarket Sans Bold"/>
              </a:rPr>
              <a:t>비교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EBBA8D-502F-2E68-E6DE-7333389D60FE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EEEEEE">
              <a:alpha val="6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Picture 5">
            <a:extLst>
              <a:ext uri="{FF2B5EF4-FFF2-40B4-BE49-F238E27FC236}">
                <a16:creationId xmlns:a16="http://schemas.microsoft.com/office/drawing/2014/main" id="{0F8AFE38-CF89-4A5C-7355-E86CCAA08D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142" y="1673840"/>
            <a:ext cx="15107194" cy="1631950"/>
          </a:xfrm>
          <a:prstGeom prst="rect">
            <a:avLst/>
          </a:prstGeom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196CA743-EB18-A8B6-112E-9299979600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929" y="3810000"/>
            <a:ext cx="12374716" cy="82498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6827500" y="54356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46400" y="-5080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300" y="8902700"/>
            <a:ext cx="4940300" cy="4940300"/>
          </a:xfrm>
          <a:prstGeom prst="rect">
            <a:avLst/>
          </a:prstGeom>
          <a:effectLst>
            <a:outerShdw blurRad="486683" dist="532329" dir="2220000">
              <a:srgbClr val="000000">
                <a:alpha val="34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800" y="38227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0" y="736600"/>
            <a:ext cx="1473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444500"/>
            <a:ext cx="12319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400" y="10871200"/>
            <a:ext cx="3162300" cy="318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622300"/>
            <a:ext cx="2120900" cy="212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67600" y="5702300"/>
            <a:ext cx="9436100" cy="337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109"/>
              </a:lnSpc>
            </a:pPr>
            <a:r>
              <a:rPr lang="ko-KR" altLang="en-US" sz="10300" b="0" i="0" u="none" strike="noStrike" spc="-800" dirty="0">
                <a:solidFill>
                  <a:srgbClr val="3A4CA8"/>
                </a:solidFill>
                <a:ea typeface="Gmarket Sans Bold"/>
              </a:rPr>
              <a:t>설계 과정</a:t>
            </a:r>
            <a:endParaRPr lang="ko-KR" sz="10300" b="0" i="0" u="none" strike="noStrike" spc="-800" dirty="0">
              <a:solidFill>
                <a:srgbClr val="3A4CA8"/>
              </a:solidFill>
              <a:ea typeface="Gmarket Sans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5067300"/>
            <a:ext cx="1651000" cy="196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600" y="3213100"/>
            <a:ext cx="4114800" cy="232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100" y="4038600"/>
            <a:ext cx="1778000" cy="1790700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03768EF-0DAA-8C64-1D07-99A32958D5D9}"/>
              </a:ext>
            </a:extLst>
          </p:cNvPr>
          <p:cNvSpPr txBox="1"/>
          <p:nvPr/>
        </p:nvSpPr>
        <p:spPr>
          <a:xfrm>
            <a:off x="8280400" y="70358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635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962400" y="-47752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2590800"/>
            <a:ext cx="5308600" cy="471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3900" y="2590800"/>
            <a:ext cx="5308600" cy="4711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039100"/>
            <a:ext cx="5308600" cy="4711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3900" y="8039100"/>
            <a:ext cx="5308600" cy="471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200" y="4229100"/>
            <a:ext cx="2565400" cy="256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800" y="4394200"/>
            <a:ext cx="4114800" cy="1092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800" y="5715000"/>
            <a:ext cx="4114800" cy="977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9525000"/>
            <a:ext cx="2514600" cy="2514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3900" y="9525000"/>
            <a:ext cx="2768600" cy="2641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273300" y="952500"/>
            <a:ext cx="2705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설계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과정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32400" y="939800"/>
            <a:ext cx="42037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4D65DD"/>
                </a:solidFill>
                <a:ea typeface="Gmarket Sans Bold"/>
              </a:rPr>
              <a:t>챌린지</a:t>
            </a:r>
            <a:r>
              <a:rPr lang="en-US" sz="4800" b="0" i="0" u="none" strike="noStrike" spc="-400" dirty="0">
                <a:solidFill>
                  <a:srgbClr val="4D65DD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4D65DD"/>
                </a:solidFill>
                <a:ea typeface="Gmarket Sans Bold"/>
              </a:rPr>
              <a:t>포인트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16800" y="2908300"/>
            <a:ext cx="28702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4700" b="1" i="0" u="none" strike="noStrike" dirty="0">
                <a:solidFill>
                  <a:srgbClr val="3A4CA8"/>
                </a:solidFill>
                <a:ea typeface="Gmarket Sans Medium"/>
              </a:rPr>
              <a:t>외부</a:t>
            </a:r>
            <a:r>
              <a:rPr lang="en-US" sz="4700" b="1" i="0" u="none" strike="noStrike" dirty="0">
                <a:solidFill>
                  <a:srgbClr val="3A4CA8"/>
                </a:solidFill>
                <a:latin typeface="Gmarket Sans Medium"/>
              </a:rPr>
              <a:t> API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27200" y="2908300"/>
            <a:ext cx="34798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4700" b="1" i="0" u="none" strike="noStrike" dirty="0">
                <a:solidFill>
                  <a:srgbClr val="3A4CA8"/>
                </a:solidFill>
                <a:latin typeface="Gmarket Sans Medium"/>
              </a:rPr>
              <a:t>SNS </a:t>
            </a:r>
            <a:r>
              <a:rPr lang="ko-KR" sz="4700" b="1" i="0" u="none" strike="noStrike" dirty="0">
                <a:solidFill>
                  <a:srgbClr val="3A4CA8"/>
                </a:solidFill>
                <a:ea typeface="Gmarket Sans Medium"/>
              </a:rPr>
              <a:t>로그인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16800" y="8458200"/>
            <a:ext cx="28702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4700" b="1" i="0" u="none" strike="noStrike">
                <a:solidFill>
                  <a:srgbClr val="3A4CA8"/>
                </a:solidFill>
                <a:ea typeface="Gmarket Sans Medium"/>
              </a:rPr>
              <a:t>페이징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427200" y="8458200"/>
            <a:ext cx="32639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4700" b="1" i="0" u="none" strike="noStrike">
                <a:solidFill>
                  <a:srgbClr val="3A4CA8"/>
                </a:solidFill>
                <a:ea typeface="Gmarket Sans Medium"/>
              </a:rPr>
              <a:t>애니메이션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7562850" y="-3164561"/>
            <a:ext cx="9258300" cy="2438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73300" y="952500"/>
            <a:ext cx="2705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설계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과정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32400" y="939800"/>
            <a:ext cx="42037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4D65DD"/>
                </a:solidFill>
                <a:ea typeface="Gmarket Sans Bold"/>
              </a:rPr>
              <a:t>시스템</a:t>
            </a:r>
            <a:r>
              <a:rPr lang="en-US" sz="4800" b="0" i="0" u="none" strike="noStrike" spc="-400" dirty="0">
                <a:solidFill>
                  <a:srgbClr val="4D65DD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 err="1">
                <a:solidFill>
                  <a:srgbClr val="4D65DD"/>
                </a:solidFill>
                <a:ea typeface="Gmarket Sans Bold"/>
              </a:rPr>
              <a:t>아키텍쳐</a:t>
            </a:r>
            <a:endParaRPr lang="ko-KR" sz="4800" b="0" i="0" u="none" strike="noStrike" spc="-400" dirty="0">
              <a:solidFill>
                <a:srgbClr val="4D65DD"/>
              </a:solidFill>
              <a:ea typeface="Gmarket Sans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4724400"/>
            <a:ext cx="1905000" cy="190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9450" y="5128539"/>
            <a:ext cx="3822700" cy="147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60000">
            <a:off x="2576763" y="8182888"/>
            <a:ext cx="1612900" cy="482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150" y="5175034"/>
            <a:ext cx="1460500" cy="1447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313" y="10756900"/>
            <a:ext cx="3987800" cy="977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963" y="9567189"/>
            <a:ext cx="4000500" cy="977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9850" y="11628678"/>
            <a:ext cx="3048000" cy="2070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277600" y="3426956"/>
            <a:ext cx="23114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900" b="0" i="0" u="none" strike="noStrike" dirty="0">
                <a:solidFill>
                  <a:srgbClr val="3A4CA8"/>
                </a:solidFill>
                <a:latin typeface="Gmarket Sans Medium"/>
              </a:rPr>
              <a:t>Server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370800" y="3866020"/>
            <a:ext cx="2387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900" b="0" i="0" u="none" strike="noStrike" dirty="0">
                <a:solidFill>
                  <a:srgbClr val="3A4CA8"/>
                </a:solidFill>
                <a:ea typeface="Gmarket Sans Medium"/>
              </a:rPr>
              <a:t>외부</a:t>
            </a:r>
            <a:r>
              <a:rPr lang="en-US" sz="2900" b="0" i="0" u="none" strike="noStrike" dirty="0">
                <a:solidFill>
                  <a:srgbClr val="3A4CA8"/>
                </a:solidFill>
                <a:latin typeface="Gmarket Sans Medium"/>
              </a:rPr>
              <a:t> AI API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150" y="11150384"/>
            <a:ext cx="3302000" cy="876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1150" y="8240039"/>
            <a:ext cx="1739900" cy="1625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512" y="3949700"/>
            <a:ext cx="3048000" cy="3035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051" y="4171950"/>
            <a:ext cx="1765300" cy="2298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1150" y="4817389"/>
            <a:ext cx="2565400" cy="256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78150" y="-5461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2400300"/>
            <a:ext cx="22453600" cy="1045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400" y="6299200"/>
            <a:ext cx="4318000" cy="149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4200" y="7924800"/>
            <a:ext cx="393700" cy="749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500" y="2857500"/>
            <a:ext cx="3213100" cy="1117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273300" y="952500"/>
            <a:ext cx="2705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설계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과정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10922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Hallym Gothic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0" y="6464300"/>
            <a:ext cx="28194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6400" b="0" i="0" u="none" strike="noStrike" spc="-600">
                <a:solidFill>
                  <a:srgbClr val="000000"/>
                </a:solidFill>
                <a:latin typeface="Gmarket Sans Bold"/>
              </a:rPr>
              <a:t>Users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20600" y="8001000"/>
            <a:ext cx="16383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Gmarket Sans Medium"/>
              </a:rPr>
              <a:t>usr_id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46000" y="3035300"/>
            <a:ext cx="22352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700" b="0" i="0" u="none" strike="noStrike" spc="-400">
                <a:solidFill>
                  <a:srgbClr val="000000"/>
                </a:solidFill>
                <a:ea typeface="Gmarket Sans Bold"/>
              </a:rPr>
              <a:t>상품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300" y="10350500"/>
            <a:ext cx="3213100" cy="1117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569700" y="10553700"/>
            <a:ext cx="32639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500">
                <a:solidFill>
                  <a:srgbClr val="000000"/>
                </a:solidFill>
                <a:ea typeface="Gmarket Sans Bold"/>
              </a:rPr>
              <a:t>체크리스트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1500" y="9093200"/>
            <a:ext cx="3213100" cy="1117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9354800" y="9258300"/>
            <a:ext cx="13462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500">
                <a:solidFill>
                  <a:srgbClr val="000000"/>
                </a:solidFill>
                <a:ea typeface="Gmarket Sans Bold"/>
              </a:rPr>
              <a:t>댓글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8800" y="4864100"/>
            <a:ext cx="3213100" cy="1117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8275300" y="4965700"/>
            <a:ext cx="3327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4800" b="0" i="0" u="none" strike="noStrike" spc="-500">
                <a:solidFill>
                  <a:srgbClr val="000000"/>
                </a:solidFill>
                <a:ea typeface="Gmarket Sans Bold"/>
              </a:rPr>
              <a:t>게시판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4305300"/>
            <a:ext cx="4864100" cy="1117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4076700" y="4432300"/>
            <a:ext cx="4470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4800" b="0" i="0" u="none" strike="noStrike" spc="-500">
                <a:solidFill>
                  <a:srgbClr val="000000"/>
                </a:solidFill>
                <a:latin typeface="Gmarket Sans Bold"/>
              </a:rPr>
              <a:t>AI </a:t>
            </a:r>
            <a:r>
              <a:rPr lang="ko-KR" sz="4800" b="0" i="0" u="none" strike="noStrike" spc="-500">
                <a:solidFill>
                  <a:srgbClr val="000000"/>
                </a:solidFill>
                <a:ea typeface="Gmarket Sans Bold"/>
              </a:rPr>
              <a:t>추천</a:t>
            </a:r>
            <a:r>
              <a:rPr lang="en-US" sz="4800" b="0" i="0" u="none" strike="noStrike" spc="-500">
                <a:solidFill>
                  <a:srgbClr val="000000"/>
                </a:solidFill>
                <a:latin typeface="Gmarket Sans Bold"/>
              </a:rPr>
              <a:t> </a:t>
            </a:r>
            <a:r>
              <a:rPr lang="ko-KR" sz="4800" b="0" i="0" u="none" strike="noStrike" spc="-500">
                <a:solidFill>
                  <a:srgbClr val="000000"/>
                </a:solidFill>
                <a:ea typeface="Gmarket Sans Bold"/>
              </a:rPr>
              <a:t>영양제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700" y="8724900"/>
            <a:ext cx="4864100" cy="1117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800" y="3886200"/>
            <a:ext cx="393700" cy="749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8521700"/>
            <a:ext cx="393700" cy="749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00" y="2667000"/>
            <a:ext cx="393700" cy="749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0" y="4483100"/>
            <a:ext cx="393700" cy="749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0" y="8699500"/>
            <a:ext cx="393700" cy="749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3784600" y="8864600"/>
            <a:ext cx="4470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4800" b="0" i="0" u="none" strike="noStrike" spc="-500">
                <a:solidFill>
                  <a:srgbClr val="000000"/>
                </a:solidFill>
                <a:ea typeface="Gmarket Sans Bold"/>
              </a:rPr>
              <a:t>사용자</a:t>
            </a:r>
            <a:r>
              <a:rPr lang="en-US" sz="4800" b="0" i="0" u="none" strike="noStrike" spc="-500">
                <a:solidFill>
                  <a:srgbClr val="000000"/>
                </a:solidFill>
                <a:latin typeface="Gmarket Sans Bold"/>
              </a:rPr>
              <a:t> </a:t>
            </a:r>
            <a:r>
              <a:rPr lang="ko-KR" sz="4800" b="0" i="0" u="none" strike="noStrike" spc="-500">
                <a:solidFill>
                  <a:srgbClr val="000000"/>
                </a:solidFill>
                <a:ea typeface="Gmarket Sans Bold"/>
              </a:rPr>
              <a:t>체크</a:t>
            </a:r>
            <a:r>
              <a:rPr lang="en-US" sz="4800" b="0" i="0" u="none" strike="noStrike" spc="-500">
                <a:solidFill>
                  <a:srgbClr val="000000"/>
                </a:solidFill>
                <a:latin typeface="Gmarket Sans Bold"/>
              </a:rPr>
              <a:t> </a:t>
            </a:r>
            <a:r>
              <a:rPr lang="ko-KR" sz="4800" b="0" i="0" u="none" strike="noStrike" spc="-500">
                <a:solidFill>
                  <a:srgbClr val="000000"/>
                </a:solidFill>
                <a:ea typeface="Gmarket Sans Bold"/>
              </a:rPr>
              <a:t>응답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51300" y="5435600"/>
            <a:ext cx="4406900" cy="207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영양제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이름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추천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식품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추천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이유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상호작용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추천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일시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20400" y="4051300"/>
            <a:ext cx="44069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상품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URL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상품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IMG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97300" y="10172700"/>
            <a:ext cx="44069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응답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데이터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응답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일시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31500" y="11671300"/>
            <a:ext cx="4406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질문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리스트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640300" y="10363200"/>
            <a:ext cx="44069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댓글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내용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작성자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691100" y="6108700"/>
            <a:ext cx="4406900" cy="166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글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제목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글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내용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작성</a:t>
            </a:r>
            <a:r>
              <a:rPr lang="en-US" sz="2300" b="0" i="0" u="none" strike="noStrike" spc="-200">
                <a:solidFill>
                  <a:srgbClr val="000000"/>
                </a:solidFill>
                <a:latin typeface="Gmarket Sans Medium"/>
              </a:rPr>
              <a:t> </a:t>
            </a: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시간</a:t>
            </a:r>
          </a:p>
          <a:p>
            <a:pPr marL="342900" lvl="0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00" b="0" i="0" u="none" strike="noStrike" spc="-200">
                <a:solidFill>
                  <a:srgbClr val="000000"/>
                </a:solidFill>
                <a:ea typeface="Gmarket Sans Medium"/>
              </a:rPr>
              <a:t>작성자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6" grpId="0"/>
      <p:bldP spid="18" grpId="0"/>
      <p:bldP spid="20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606800" y="-5331239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2400300"/>
            <a:ext cx="22453600" cy="1045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400" y="2730500"/>
            <a:ext cx="5969000" cy="1562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273300" y="952500"/>
            <a:ext cx="27051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설계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과정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72800" y="3048000"/>
            <a:ext cx="4114800" cy="91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6000" b="0" i="0" u="none" strike="noStrike" spc="-400" dirty="0">
                <a:solidFill>
                  <a:srgbClr val="000000"/>
                </a:solidFill>
                <a:ea typeface="Gmarket Sans Bold"/>
              </a:rPr>
              <a:t>메인</a:t>
            </a:r>
            <a:r>
              <a:rPr lang="en-US" sz="6000" b="0" i="0" u="none" strike="noStrike" spc="-400" dirty="0">
                <a:solidFill>
                  <a:srgbClr val="000000"/>
                </a:solidFill>
                <a:latin typeface="Gmarket Sans Bold"/>
              </a:rPr>
              <a:t> </a:t>
            </a:r>
            <a:r>
              <a:rPr lang="ko-KR" sz="6000" b="0" i="0" u="none" strike="noStrike" spc="-400" dirty="0">
                <a:solidFill>
                  <a:srgbClr val="000000"/>
                </a:solidFill>
                <a:ea typeface="Gmarket Sans Bold"/>
              </a:rPr>
              <a:t>화면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900" y="5232400"/>
            <a:ext cx="3314700" cy="1092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277600" y="5334000"/>
            <a:ext cx="2311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000000"/>
                </a:solidFill>
                <a:ea typeface="Gmarket Sans Bold"/>
              </a:rPr>
              <a:t>설문조사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5100" y="5232400"/>
            <a:ext cx="3314700" cy="1092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887700" y="5334000"/>
            <a:ext cx="23114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000000"/>
                </a:solidFill>
                <a:ea typeface="Gmarket Sans Bold"/>
              </a:rPr>
              <a:t>검색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300" y="5232400"/>
            <a:ext cx="3314700" cy="10922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0269200" y="5308600"/>
            <a:ext cx="2311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000000"/>
                </a:solidFill>
                <a:ea typeface="Gmarket Sans Bold"/>
              </a:rPr>
              <a:t>게시판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0" y="7023100"/>
            <a:ext cx="2641600" cy="863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6179800" y="7124700"/>
            <a:ext cx="1841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>
                <a:solidFill>
                  <a:srgbClr val="000000"/>
                </a:solidFill>
                <a:ea typeface="Gmarket Sans Bold"/>
              </a:rPr>
              <a:t>회원가입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612100" y="7124700"/>
            <a:ext cx="1841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>
                <a:solidFill>
                  <a:srgbClr val="000000"/>
                </a:solidFill>
                <a:ea typeface="Gmarket Sans Bold"/>
              </a:rPr>
              <a:t>회원가입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0" y="7023100"/>
            <a:ext cx="2641600" cy="863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531600" y="7124700"/>
            <a:ext cx="26416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설문조사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00" y="8445500"/>
            <a:ext cx="2641600" cy="863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341100" y="8547100"/>
            <a:ext cx="26035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AI </a:t>
            </a: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분석결과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700" y="9753600"/>
            <a:ext cx="4622800" cy="863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1099800"/>
            <a:ext cx="2641600" cy="863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1569700" y="11214100"/>
            <a:ext cx="18415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상호작용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5232400"/>
            <a:ext cx="3314700" cy="10922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336800" y="5334000"/>
            <a:ext cx="2311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000000"/>
                </a:solidFill>
                <a:ea typeface="Gmarket Sans Bold"/>
              </a:rPr>
              <a:t>회원가입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900" y="7023100"/>
            <a:ext cx="2641600" cy="8636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2552700" y="7124700"/>
            <a:ext cx="1841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>
                <a:solidFill>
                  <a:srgbClr val="000000"/>
                </a:solidFill>
                <a:ea typeface="Gmarket Sans Bold"/>
              </a:rPr>
              <a:t>회원가입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0" y="7023100"/>
            <a:ext cx="2641600" cy="863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2578100" y="7086600"/>
            <a:ext cx="1841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회원가입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8445500"/>
            <a:ext cx="2641600" cy="8636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2501900" y="8547100"/>
            <a:ext cx="18415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로그인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2600" y="7023100"/>
            <a:ext cx="2641600" cy="8636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15925800" y="7112000"/>
            <a:ext cx="26670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영양제</a:t>
            </a:r>
            <a:r>
              <a:rPr lang="en-US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검색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5300" y="8445500"/>
            <a:ext cx="2641600" cy="8636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5913100" y="8547100"/>
            <a:ext cx="26416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영양제</a:t>
            </a:r>
            <a:r>
              <a:rPr lang="en-US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링크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9500" y="7023100"/>
            <a:ext cx="2641600" cy="8636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20561300" y="7124700"/>
            <a:ext cx="1841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>
                <a:solidFill>
                  <a:srgbClr val="000000"/>
                </a:solidFill>
                <a:ea typeface="Gmarket Sans Bold"/>
              </a:rPr>
              <a:t>회원가입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4100" y="7023100"/>
            <a:ext cx="2641600" cy="8636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0383500" y="7124700"/>
            <a:ext cx="26797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게시글</a:t>
            </a:r>
            <a:r>
              <a:rPr lang="en-US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작성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00" y="8445500"/>
            <a:ext cx="2641600" cy="8636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20294600" y="8547100"/>
            <a:ext cx="27051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게시글</a:t>
            </a:r>
            <a:r>
              <a:rPr lang="en-US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검색</a:t>
            </a: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700" y="9842500"/>
            <a:ext cx="3733800" cy="8636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9875500" y="9931400"/>
            <a:ext cx="3327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게시글</a:t>
            </a:r>
            <a:r>
              <a:rPr lang="en-US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댓글작성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700" y="5257800"/>
            <a:ext cx="3314700" cy="1092200"/>
          </a:xfrm>
          <a:prstGeom prst="rect">
            <a:avLst/>
          </a:prstGeom>
        </p:spPr>
      </p:pic>
      <p:sp>
        <p:nvSpPr>
          <p:cNvPr id="48" name="TextBox 48"/>
          <p:cNvSpPr txBox="1"/>
          <p:nvPr/>
        </p:nvSpPr>
        <p:spPr>
          <a:xfrm>
            <a:off x="6654800" y="5334000"/>
            <a:ext cx="2311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000000"/>
                </a:solidFill>
                <a:ea typeface="Gmarket Sans Bold"/>
              </a:rPr>
              <a:t>카테고리</a:t>
            </a: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7023100"/>
            <a:ext cx="2641600" cy="8636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6883400" y="7124700"/>
            <a:ext cx="1841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>
                <a:solidFill>
                  <a:srgbClr val="000000"/>
                </a:solidFill>
                <a:ea typeface="Gmarket Sans Bold"/>
              </a:rPr>
              <a:t>회원가입</a:t>
            </a:r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7023100"/>
            <a:ext cx="2641600" cy="8636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8445500"/>
            <a:ext cx="2641600" cy="863600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6858000" y="8547100"/>
            <a:ext cx="18415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정보수정</a:t>
            </a: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753600"/>
            <a:ext cx="3302000" cy="86360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6400800" y="9829800"/>
            <a:ext cx="28702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추천</a:t>
            </a:r>
            <a:r>
              <a:rPr lang="en-US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히스토리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29400" y="7124700"/>
            <a:ext cx="22733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3800" b="0" i="0" u="none" strike="noStrike" spc="-4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마이페이지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414000" y="9855200"/>
            <a:ext cx="5054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3500" b="0" i="0" u="none" strike="noStrike" spc="-3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추천영양제</a:t>
            </a:r>
            <a:r>
              <a:rPr lang="en-US" sz="3500" b="0" i="0" u="none" strike="noStrike" spc="-3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500" b="0" i="0" u="none" strike="noStrike" spc="-3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링크</a:t>
            </a:r>
            <a:r>
              <a:rPr lang="en-US" sz="3500" b="0" i="0" u="none" strike="noStrike" spc="-3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500" b="0" i="0" u="none" strike="noStrike" spc="-3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및</a:t>
            </a:r>
            <a:r>
              <a:rPr lang="en-US" sz="3500" b="0" i="0" u="none" strike="noStrike" spc="-3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3500" b="0" i="0" u="none" strike="noStrike" spc="-3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설명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16" grpId="0"/>
      <p:bldP spid="17" grpId="0"/>
      <p:bldP spid="19" grpId="0"/>
      <p:bldP spid="21" grpId="0"/>
      <p:bldP spid="24" grpId="0"/>
      <p:bldP spid="27" grpId="0"/>
      <p:bldP spid="29" grpId="0"/>
      <p:bldP spid="31" grpId="0"/>
      <p:bldP spid="33" grpId="0"/>
      <p:bldP spid="35" grpId="0"/>
      <p:bldP spid="37" grpId="0"/>
      <p:bldP spid="39" grpId="0"/>
      <p:bldP spid="41" grpId="0"/>
      <p:bldP spid="43" grpId="0"/>
      <p:bldP spid="45" grpId="0"/>
      <p:bldP spid="48" grpId="0"/>
      <p:bldP spid="50" grpId="0"/>
      <p:bldP spid="53" grpId="0"/>
      <p:bldP spid="55" grpId="0"/>
      <p:bldP spid="56" grpId="0"/>
      <p:bldP spid="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6827500" y="54356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46400" y="-5080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300" y="8902700"/>
            <a:ext cx="4940300" cy="4940300"/>
          </a:xfrm>
          <a:prstGeom prst="rect">
            <a:avLst/>
          </a:prstGeom>
          <a:effectLst>
            <a:outerShdw blurRad="486683" dist="532329" dir="2220000">
              <a:srgbClr val="000000">
                <a:alpha val="34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800" y="38227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0" y="736600"/>
            <a:ext cx="1473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444500"/>
            <a:ext cx="12319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400" y="10871200"/>
            <a:ext cx="3162300" cy="318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622300"/>
            <a:ext cx="2120900" cy="212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67600" y="5702300"/>
            <a:ext cx="9436100" cy="337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109"/>
              </a:lnSpc>
            </a:pPr>
            <a:r>
              <a:rPr lang="ko-KR" altLang="en-US" sz="10300" b="0" i="0" u="none" strike="noStrike" spc="-800" dirty="0">
                <a:solidFill>
                  <a:srgbClr val="3A4CA8"/>
                </a:solidFill>
                <a:ea typeface="Gmarket Sans Bold"/>
              </a:rPr>
              <a:t>구현 내용</a:t>
            </a:r>
            <a:endParaRPr lang="ko-KR" sz="10300" b="0" i="0" u="none" strike="noStrike" spc="-800" dirty="0">
              <a:solidFill>
                <a:srgbClr val="3A4CA8"/>
              </a:solidFill>
              <a:ea typeface="Gmarket Sans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5067300"/>
            <a:ext cx="1651000" cy="196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600" y="3213100"/>
            <a:ext cx="4114800" cy="232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100" y="4038600"/>
            <a:ext cx="1778000" cy="1790700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03768EF-0DAA-8C64-1D07-99A32958D5D9}"/>
              </a:ext>
            </a:extLst>
          </p:cNvPr>
          <p:cNvSpPr txBox="1"/>
          <p:nvPr/>
        </p:nvSpPr>
        <p:spPr>
          <a:xfrm>
            <a:off x="8280400" y="70358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887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AA89F96F-0FA7-1ED2-0498-AD6EB3FAA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286" y="1716594"/>
            <a:ext cx="5327912" cy="10551606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667AF9-E1DD-41C8-AE7D-4FFC7B919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76400"/>
            <a:ext cx="5410200" cy="10828212"/>
          </a:xfrm>
          <a:prstGeom prst="roundRect">
            <a:avLst/>
          </a:prstGeom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AA9F7434-2010-37ED-3429-FDB9BFB21D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0781" y="1511300"/>
            <a:ext cx="5846815" cy="11033506"/>
          </a:xfrm>
          <a:prstGeom prst="round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684" y="1469815"/>
            <a:ext cx="5916832" cy="11169650"/>
          </a:xfrm>
          <a:prstGeom prst="rect">
            <a:avLst/>
          </a:prstGeom>
        </p:spPr>
      </p:pic>
      <p:pic>
        <p:nvPicPr>
          <p:cNvPr id="24" name="Picture 3">
            <a:extLst>
              <a:ext uri="{FF2B5EF4-FFF2-40B4-BE49-F238E27FC236}">
                <a16:creationId xmlns:a16="http://schemas.microsoft.com/office/drawing/2014/main" id="{509B47F3-C986-14C7-F0CA-AF6F14FCA1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792712" y="-5205518"/>
            <a:ext cx="12103100" cy="13525500"/>
          </a:xfrm>
          <a:prstGeom prst="rect">
            <a:avLst/>
          </a:prstGeom>
        </p:spPr>
      </p:pic>
      <p:pic>
        <p:nvPicPr>
          <p:cNvPr id="3" name="Picture 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81300" y="4273550"/>
            <a:ext cx="13855700" cy="158623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1" name="TextBox 21"/>
          <p:cNvSpPr txBox="1"/>
          <p:nvPr/>
        </p:nvSpPr>
        <p:spPr>
          <a:xfrm>
            <a:off x="2273300" y="952500"/>
            <a:ext cx="2692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구현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내용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03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92" y="8430649"/>
            <a:ext cx="1031592" cy="1031592"/>
          </a:xfrm>
          <a:prstGeom prst="rect">
            <a:avLst/>
          </a:prstGeom>
        </p:spPr>
      </p:pic>
      <p:sp>
        <p:nvSpPr>
          <p:cNvPr id="25" name="TextBox 20">
            <a:extLst>
              <a:ext uri="{FF2B5EF4-FFF2-40B4-BE49-F238E27FC236}">
                <a16:creationId xmlns:a16="http://schemas.microsoft.com/office/drawing/2014/main" id="{9238513B-F897-B5ED-A2C6-B62402134AFB}"/>
              </a:ext>
            </a:extLst>
          </p:cNvPr>
          <p:cNvSpPr txBox="1"/>
          <p:nvPr/>
        </p:nvSpPr>
        <p:spPr>
          <a:xfrm>
            <a:off x="7400727" y="655108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메인 화면</a:t>
            </a:r>
          </a:p>
        </p:txBody>
      </p:sp>
      <p:pic>
        <p:nvPicPr>
          <p:cNvPr id="28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7328" y="11409566"/>
            <a:ext cx="1590268" cy="1590268"/>
          </a:xfrm>
          <a:prstGeom prst="rect">
            <a:avLst/>
          </a:prstGeom>
        </p:spPr>
      </p:pic>
      <p:sp>
        <p:nvSpPr>
          <p:cNvPr id="29" name="TextBox 20">
            <a:extLst>
              <a:ext uri="{FF2B5EF4-FFF2-40B4-BE49-F238E27FC236}">
                <a16:creationId xmlns:a16="http://schemas.microsoft.com/office/drawing/2014/main" id="{D935D98A-6A65-12BC-519E-A7A8BF465759}"/>
              </a:ext>
            </a:extLst>
          </p:cNvPr>
          <p:cNvSpPr txBox="1"/>
          <p:nvPr/>
        </p:nvSpPr>
        <p:spPr>
          <a:xfrm>
            <a:off x="16543988" y="755324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설문 조사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4566900" y="4908550"/>
            <a:ext cx="13855700" cy="15862300"/>
          </a:xfrm>
          <a:prstGeom prst="rect">
            <a:avLst/>
          </a:prstGeom>
        </p:spPr>
      </p:pic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556000" y="-4686300"/>
            <a:ext cx="12103100" cy="135255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486A362-9CC0-4988-8BB9-289017A85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222" y="1854200"/>
            <a:ext cx="5233956" cy="10689887"/>
          </a:xfrm>
          <a:prstGeom prst="roundRect">
            <a:avLst/>
          </a:prstGeom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A870293A-91A9-E92E-1610-C07660D2FF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926" y="1641043"/>
            <a:ext cx="5830548" cy="11002807"/>
          </a:xfrm>
          <a:prstGeom prst="roundRect">
            <a:avLst/>
          </a:prstGeom>
        </p:spPr>
      </p:pic>
      <p:pic>
        <p:nvPicPr>
          <p:cNvPr id="10" name="그림 9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40FA305-6B14-EB0B-5E10-972505935ED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64"/>
          <a:stretch/>
        </p:blipFill>
        <p:spPr>
          <a:xfrm>
            <a:off x="15373700" y="1740691"/>
            <a:ext cx="5446268" cy="10734298"/>
          </a:xfrm>
          <a:prstGeom prst="round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9F7434-2010-37ED-3429-FDB9BFB21D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1535397"/>
            <a:ext cx="5942514" cy="11214100"/>
          </a:xfrm>
          <a:prstGeom prst="round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73300" y="952500"/>
            <a:ext cx="2692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구현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03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6315" y="11337703"/>
            <a:ext cx="1616297" cy="1616297"/>
          </a:xfrm>
          <a:prstGeom prst="rect">
            <a:avLst/>
          </a:prstGeom>
        </p:spPr>
      </p:pic>
      <p:sp>
        <p:nvSpPr>
          <p:cNvPr id="14" name="TextBox 20">
            <a:extLst>
              <a:ext uri="{FF2B5EF4-FFF2-40B4-BE49-F238E27FC236}">
                <a16:creationId xmlns:a16="http://schemas.microsoft.com/office/drawing/2014/main" id="{C0CA04C5-A0B3-A661-6928-259C7D9B4A4B}"/>
              </a:ext>
            </a:extLst>
          </p:cNvPr>
          <p:cNvSpPr txBox="1"/>
          <p:nvPr/>
        </p:nvSpPr>
        <p:spPr>
          <a:xfrm>
            <a:off x="7620000" y="806205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추천 결과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7C90FC51-45C2-4F84-812E-3D47D1CD94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551" y="9010650"/>
            <a:ext cx="1594331" cy="1594331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0BB6A619-F167-2883-1CE8-8888609CCEFA}"/>
              </a:ext>
            </a:extLst>
          </p:cNvPr>
          <p:cNvSpPr txBox="1"/>
          <p:nvPr/>
        </p:nvSpPr>
        <p:spPr>
          <a:xfrm>
            <a:off x="16535400" y="762000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추천 결과</a:t>
            </a:r>
          </a:p>
        </p:txBody>
      </p:sp>
    </p:spTree>
    <p:extLst>
      <p:ext uri="{BB962C8B-B14F-4D97-AF65-F5344CB8AC3E}">
        <p14:creationId xmlns:p14="http://schemas.microsoft.com/office/powerpoint/2010/main" val="28996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F9076BE-BE3D-43C5-AFAC-DB4BD301D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355" y="1606549"/>
            <a:ext cx="5435445" cy="11125676"/>
          </a:xfrm>
          <a:prstGeom prst="round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556000" y="-4686300"/>
            <a:ext cx="12103100" cy="13525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4566900" y="4908550"/>
            <a:ext cx="13855700" cy="15862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73300" y="952500"/>
            <a:ext cx="2692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구현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03</a:t>
            </a: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417683B8-5D44-0886-99FA-03E9F8196D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086" y="1511300"/>
            <a:ext cx="5942514" cy="11214098"/>
          </a:xfrm>
          <a:prstGeom prst="round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193ADB3A-B0C8-F2AD-F0FD-D214B03F2E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9153" y="7950200"/>
            <a:ext cx="1616297" cy="1616297"/>
          </a:xfrm>
          <a:prstGeom prst="rect">
            <a:avLst/>
          </a:prstGeom>
        </p:spPr>
      </p:pic>
      <p:sp>
        <p:nvSpPr>
          <p:cNvPr id="15" name="TextBox 20">
            <a:extLst>
              <a:ext uri="{FF2B5EF4-FFF2-40B4-BE49-F238E27FC236}">
                <a16:creationId xmlns:a16="http://schemas.microsoft.com/office/drawing/2014/main" id="{D2429558-77B4-E6EA-E9B8-676B1EEC4DC8}"/>
              </a:ext>
            </a:extLst>
          </p:cNvPr>
          <p:cNvSpPr txBox="1"/>
          <p:nvPr/>
        </p:nvSpPr>
        <p:spPr>
          <a:xfrm>
            <a:off x="11531600" y="756708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391680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556000" y="-4686300"/>
            <a:ext cx="12103100" cy="13525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83490C-2D97-57A0-75D7-77212E8A2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743" y="1689100"/>
            <a:ext cx="5322280" cy="10759018"/>
          </a:xfrm>
          <a:prstGeom prst="round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9F7434-2010-37ED-3429-FDB9BFB21D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706" y="1562099"/>
            <a:ext cx="5881294" cy="11098571"/>
          </a:xfrm>
          <a:prstGeom prst="round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6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4566900" y="4908550"/>
            <a:ext cx="13855700" cy="15862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73300" y="952500"/>
            <a:ext cx="2692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구현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03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199" y="7912100"/>
            <a:ext cx="1599645" cy="15996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9C652E0-8485-DED8-3EF8-5CE4FFE4D4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3691" y="1610471"/>
            <a:ext cx="5445635" cy="10787803"/>
          </a:xfrm>
          <a:prstGeom prst="roundRect">
            <a:avLst/>
          </a:prstGeom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AA9F7434-2010-37ED-3429-FDB9BFB21D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0" y="1511299"/>
            <a:ext cx="5881294" cy="11098571"/>
          </a:xfrm>
          <a:prstGeom prst="roundRect">
            <a:avLst/>
          </a:prstGeom>
        </p:spPr>
      </p:pic>
      <p:pic>
        <p:nvPicPr>
          <p:cNvPr id="12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1507" y="4991100"/>
            <a:ext cx="1599645" cy="1599645"/>
          </a:xfrm>
          <a:prstGeom prst="rect">
            <a:avLst/>
          </a:prstGeom>
        </p:spPr>
      </p:pic>
      <p:sp>
        <p:nvSpPr>
          <p:cNvPr id="13" name="TextBox 20">
            <a:extLst>
              <a:ext uri="{FF2B5EF4-FFF2-40B4-BE49-F238E27FC236}">
                <a16:creationId xmlns:a16="http://schemas.microsoft.com/office/drawing/2014/main" id="{22384622-8498-7D94-6F55-3187B1D8E44A}"/>
              </a:ext>
            </a:extLst>
          </p:cNvPr>
          <p:cNvSpPr txBox="1"/>
          <p:nvPr/>
        </p:nvSpPr>
        <p:spPr>
          <a:xfrm>
            <a:off x="7620000" y="794808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검색 화면</a:t>
            </a: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DC9CB3A8-D0C8-3694-56F6-C03A3C85F9DF}"/>
              </a:ext>
            </a:extLst>
          </p:cNvPr>
          <p:cNvSpPr txBox="1"/>
          <p:nvPr/>
        </p:nvSpPr>
        <p:spPr>
          <a:xfrm>
            <a:off x="16535400" y="794808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검색 결과</a:t>
            </a:r>
          </a:p>
        </p:txBody>
      </p:sp>
    </p:spTree>
    <p:extLst>
      <p:ext uri="{BB962C8B-B14F-4D97-AF65-F5344CB8AC3E}">
        <p14:creationId xmlns:p14="http://schemas.microsoft.com/office/powerpoint/2010/main" val="100894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556000" y="-4686300"/>
            <a:ext cx="12103100" cy="13525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4566900" y="4908550"/>
            <a:ext cx="13855700" cy="15862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73300" y="952500"/>
            <a:ext cx="2692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구현</a:t>
            </a:r>
            <a:r>
              <a:rPr lang="en-US" sz="4800" b="0" i="0" u="none" strike="noStrike" spc="-400" dirty="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 dirty="0">
                <a:solidFill>
                  <a:srgbClr val="3A4CA8"/>
                </a:solidFill>
                <a:ea typeface="Gmarket Sans Bold"/>
              </a:rPr>
              <a:t>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03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9C652E0-8485-DED8-3EF8-5CE4FFE4D4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194" y="1691793"/>
            <a:ext cx="5445635" cy="10787803"/>
          </a:xfrm>
          <a:prstGeom prst="roundRect">
            <a:avLst/>
          </a:prstGeom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AA9F7434-2010-37ED-3429-FDB9BFB21D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503" y="1592621"/>
            <a:ext cx="5881294" cy="11098571"/>
          </a:xfrm>
          <a:prstGeom prst="roundRect">
            <a:avLst/>
          </a:prstGeom>
        </p:spPr>
      </p:pic>
      <p:pic>
        <p:nvPicPr>
          <p:cNvPr id="12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010" y="5072422"/>
            <a:ext cx="1599645" cy="1599645"/>
          </a:xfrm>
          <a:prstGeom prst="rect">
            <a:avLst/>
          </a:prstGeom>
        </p:spPr>
      </p:pic>
      <p:sp>
        <p:nvSpPr>
          <p:cNvPr id="14" name="TextBox 20">
            <a:extLst>
              <a:ext uri="{FF2B5EF4-FFF2-40B4-BE49-F238E27FC236}">
                <a16:creationId xmlns:a16="http://schemas.microsoft.com/office/drawing/2014/main" id="{DC9CB3A8-D0C8-3694-56F6-C03A3C85F9DF}"/>
              </a:ext>
            </a:extLst>
          </p:cNvPr>
          <p:cNvSpPr txBox="1"/>
          <p:nvPr/>
        </p:nvSpPr>
        <p:spPr>
          <a:xfrm>
            <a:off x="7258903" y="876130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검색 결과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E9E6A87-21D7-F8D6-EDEB-B6CFD1EA73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9974" y="1511300"/>
            <a:ext cx="10768952" cy="109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1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4566900" y="4908550"/>
            <a:ext cx="13855700" cy="158623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50B79A9-3A2B-A59D-2F5D-2014D41D0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3606" y="1600200"/>
            <a:ext cx="5182794" cy="10916300"/>
          </a:xfrm>
          <a:prstGeom prst="roundRect">
            <a:avLst/>
          </a:prstGeom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AA9F7434-2010-37ED-3429-FDB9BFB21D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0" y="1511299"/>
            <a:ext cx="5881294" cy="11098571"/>
          </a:xfrm>
          <a:prstGeom prst="round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556000" y="-4686300"/>
            <a:ext cx="12103100" cy="13525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3AF2F9-353E-BA12-D351-E6FE9563EE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100" y="1600200"/>
            <a:ext cx="5168900" cy="10916300"/>
          </a:xfrm>
          <a:prstGeom prst="round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9F7434-2010-37ED-3429-FDB9BFB21D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706" y="1562099"/>
            <a:ext cx="5881294" cy="11098571"/>
          </a:xfrm>
          <a:prstGeom prst="round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273300" y="952500"/>
            <a:ext cx="26924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구현</a:t>
            </a:r>
            <a:r>
              <a:rPr lang="en-US" sz="4800" b="0" i="0" u="none" strike="noStrike" spc="-40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내용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03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049" y="7994867"/>
            <a:ext cx="1599645" cy="1599645"/>
          </a:xfrm>
          <a:prstGeom prst="rect">
            <a:avLst/>
          </a:prstGeom>
        </p:spPr>
      </p:pic>
      <p:pic>
        <p:nvPicPr>
          <p:cNvPr id="12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7680" y="11792877"/>
            <a:ext cx="1599645" cy="1599645"/>
          </a:xfrm>
          <a:prstGeom prst="rect">
            <a:avLst/>
          </a:prstGeom>
        </p:spPr>
      </p:pic>
      <p:sp>
        <p:nvSpPr>
          <p:cNvPr id="13" name="TextBox 20">
            <a:extLst>
              <a:ext uri="{FF2B5EF4-FFF2-40B4-BE49-F238E27FC236}">
                <a16:creationId xmlns:a16="http://schemas.microsoft.com/office/drawing/2014/main" id="{22384622-8498-7D94-6F55-3187B1D8E44A}"/>
              </a:ext>
            </a:extLst>
          </p:cNvPr>
          <p:cNvSpPr txBox="1"/>
          <p:nvPr/>
        </p:nvSpPr>
        <p:spPr>
          <a:xfrm>
            <a:off x="7620000" y="794808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게시판</a:t>
            </a: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DC9CB3A8-D0C8-3694-56F6-C03A3C85F9DF}"/>
              </a:ext>
            </a:extLst>
          </p:cNvPr>
          <p:cNvSpPr txBox="1"/>
          <p:nvPr/>
        </p:nvSpPr>
        <p:spPr>
          <a:xfrm>
            <a:off x="16535400" y="794808"/>
            <a:ext cx="3200400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게시판</a:t>
            </a:r>
          </a:p>
        </p:txBody>
      </p:sp>
    </p:spTree>
    <p:extLst>
      <p:ext uri="{BB962C8B-B14F-4D97-AF65-F5344CB8AC3E}">
        <p14:creationId xmlns:p14="http://schemas.microsoft.com/office/powerpoint/2010/main" val="55332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6827500" y="54356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46400" y="-5080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300" y="8902700"/>
            <a:ext cx="4940300" cy="4940300"/>
          </a:xfrm>
          <a:prstGeom prst="rect">
            <a:avLst/>
          </a:prstGeom>
          <a:effectLst>
            <a:outerShdw blurRad="486683" dist="532329" dir="2220000">
              <a:srgbClr val="000000">
                <a:alpha val="34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800" y="38227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0" y="736600"/>
            <a:ext cx="1473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444500"/>
            <a:ext cx="12319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400" y="10871200"/>
            <a:ext cx="3162300" cy="318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622300"/>
            <a:ext cx="2120900" cy="212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67600" y="5702300"/>
            <a:ext cx="9436100" cy="337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109"/>
              </a:lnSpc>
            </a:pPr>
            <a:r>
              <a:rPr lang="ko-KR" altLang="en-US" sz="10300" spc="-800" dirty="0">
                <a:solidFill>
                  <a:srgbClr val="3A4CA8"/>
                </a:solidFill>
                <a:ea typeface="Gmarket Sans Bold"/>
              </a:rPr>
              <a:t>트러블 슈팅</a:t>
            </a:r>
            <a:endParaRPr lang="ko-KR" sz="10300" b="0" i="0" u="none" strike="noStrike" spc="-800" dirty="0">
              <a:solidFill>
                <a:srgbClr val="3A4CA8"/>
              </a:solidFill>
              <a:ea typeface="Gmarket Sans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5067300"/>
            <a:ext cx="1651000" cy="196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600" y="3213100"/>
            <a:ext cx="4114800" cy="232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100" y="4038600"/>
            <a:ext cx="1778000" cy="1790700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03768EF-0DAA-8C64-1D07-99A32958D5D9}"/>
              </a:ext>
            </a:extLst>
          </p:cNvPr>
          <p:cNvSpPr txBox="1"/>
          <p:nvPr/>
        </p:nvSpPr>
        <p:spPr>
          <a:xfrm>
            <a:off x="8280400" y="70358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565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556000" y="-4686300"/>
            <a:ext cx="12103100" cy="13525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5700" cy="1586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2400300"/>
            <a:ext cx="22453600" cy="1045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7700" y="5270500"/>
            <a:ext cx="8572500" cy="421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0020300"/>
            <a:ext cx="16827500" cy="214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900" y="6286500"/>
            <a:ext cx="1016000" cy="102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273300" y="952500"/>
            <a:ext cx="31496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트러블</a:t>
            </a:r>
            <a:r>
              <a:rPr lang="en-US" sz="4800" b="0" i="0" u="none" strike="noStrike" spc="-40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슈팅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82900" y="5791200"/>
            <a:ext cx="7137400" cy="210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AI API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실행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했을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때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10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번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중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1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번은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서버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오류로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값이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전달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되지</a:t>
            </a:r>
            <a:r>
              <a:rPr lang="en-US" sz="39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900" b="0" i="0" u="none" strike="noStrike" dirty="0">
                <a:solidFill>
                  <a:srgbClr val="3A4CA8"/>
                </a:solidFill>
                <a:ea typeface="Gmarket Sans Medium"/>
              </a:rPr>
              <a:t>않았다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2500" y="3251200"/>
            <a:ext cx="54229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for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문과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if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문을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걸어서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값이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없을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경우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2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초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쉬고</a:t>
            </a:r>
          </a:p>
          <a:p>
            <a:pPr lvl="0" algn="ctr">
              <a:lnSpc>
                <a:spcPct val="116199"/>
              </a:lnSpc>
            </a:pP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다시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실행하는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로직</a:t>
            </a:r>
            <a:r>
              <a:rPr lang="en-US" sz="3000" b="0" i="0" u="none" strike="noStrike" dirty="0">
                <a:solidFill>
                  <a:srgbClr val="3A4CA8"/>
                </a:solidFill>
                <a:latin typeface="Gmarket Sans Medium"/>
              </a:rPr>
              <a:t> </a:t>
            </a:r>
            <a:r>
              <a:rPr lang="ko-KR" sz="3000" b="0" i="0" u="none" strike="noStrike" dirty="0">
                <a:solidFill>
                  <a:srgbClr val="3A4CA8"/>
                </a:solidFill>
                <a:ea typeface="Gmarket Sans Medium"/>
              </a:rPr>
              <a:t>생성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556000" y="-4686300"/>
            <a:ext cx="12103100" cy="13525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5700" cy="1586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2400300"/>
            <a:ext cx="22453600" cy="1045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861800" y="7196931"/>
            <a:ext cx="1016000" cy="1028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273300" y="952500"/>
            <a:ext cx="31496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트러블</a:t>
            </a:r>
            <a:r>
              <a:rPr lang="en-US" sz="4800" b="0" i="0" u="none" strike="noStrike" spc="-400">
                <a:solidFill>
                  <a:srgbClr val="3A4CA8"/>
                </a:solidFill>
                <a:latin typeface="Gmarket Sans Bold"/>
              </a:rPr>
              <a:t> </a:t>
            </a:r>
            <a:r>
              <a:rPr lang="ko-KR" sz="4800" b="0" i="0" u="none" strike="noStrike" spc="-400">
                <a:solidFill>
                  <a:srgbClr val="3A4CA8"/>
                </a:solidFill>
                <a:ea typeface="Gmarket Sans Bold"/>
              </a:rPr>
              <a:t>슈팅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92700" y="2926557"/>
            <a:ext cx="14554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900" b="0" i="0" u="none" strike="noStrike" dirty="0" err="1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톰캣</a:t>
            </a:r>
            <a:r>
              <a:rPr lang="ko-KR" altLang="en-US" sz="3900" b="0" i="0" u="none" strike="noStrike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서버가 패키지들의 경로들을 찾지 못해서 서버가 열리지 않았다</a:t>
            </a:r>
            <a:endParaRPr lang="en-US" sz="3900" b="0" i="0" u="none" strike="noStrike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480550" y="8883649"/>
            <a:ext cx="5422900" cy="233441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000" b="0" i="0" u="none" strike="noStrike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프로젝트 </a:t>
            </a:r>
            <a:r>
              <a:rPr lang="ko-KR" altLang="en-US" sz="3000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삭제 후 </a:t>
            </a:r>
            <a:endParaRPr lang="en-US" altLang="ko-KR" sz="3000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3000" dirty="0" err="1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깃허브에</a:t>
            </a:r>
            <a:r>
              <a:rPr lang="ko-KR" altLang="en-US" sz="3000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있는 파일 다시 가져옴</a:t>
            </a:r>
            <a:endParaRPr lang="en-US" altLang="ko-KR" sz="3000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Maven Update</a:t>
            </a:r>
            <a:endParaRPr lang="en-US" sz="3000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Clean</a:t>
            </a:r>
            <a:r>
              <a:rPr lang="en-US" sz="3000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3000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작업 후 </a:t>
            </a:r>
            <a:r>
              <a:rPr lang="ko-KR" altLang="en-US" sz="3000" dirty="0" err="1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가능해졌다</a:t>
            </a:r>
            <a:r>
              <a:rPr lang="en-US" altLang="ko-KR" sz="3000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!!!</a:t>
            </a:r>
            <a:endParaRPr lang="en-US" sz="3000" b="0" i="0" u="none" strike="noStrike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1026" name="Picture 2" descr="업로드한 이미지">
            <a:extLst>
              <a:ext uri="{FF2B5EF4-FFF2-40B4-BE49-F238E27FC236}">
                <a16:creationId xmlns:a16="http://schemas.microsoft.com/office/drawing/2014/main" id="{1D5B41D3-E0B4-AEBD-CC33-841DB4056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6345"/>
          <a:stretch/>
        </p:blipFill>
        <p:spPr bwMode="auto">
          <a:xfrm>
            <a:off x="3936188" y="3636963"/>
            <a:ext cx="18466612" cy="322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324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6827500" y="54356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46400" y="-5080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300" y="8902700"/>
            <a:ext cx="4940300" cy="4940300"/>
          </a:xfrm>
          <a:prstGeom prst="rect">
            <a:avLst/>
          </a:prstGeom>
          <a:effectLst>
            <a:outerShdw blurRad="486683" dist="532329" dir="2220000">
              <a:srgbClr val="000000">
                <a:alpha val="34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800" y="38227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0" y="736600"/>
            <a:ext cx="1473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444500"/>
            <a:ext cx="12319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400" y="10871200"/>
            <a:ext cx="3162300" cy="318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622300"/>
            <a:ext cx="2120900" cy="212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67600" y="5702300"/>
            <a:ext cx="9436100" cy="337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109"/>
              </a:lnSpc>
            </a:pPr>
            <a:r>
              <a:rPr lang="ko-KR" altLang="en-US" sz="10300" b="0" i="0" u="none" strike="noStrike" spc="-800" dirty="0">
                <a:solidFill>
                  <a:srgbClr val="3A4CA8"/>
                </a:solidFill>
                <a:ea typeface="Gmarket Sans Bold"/>
              </a:rPr>
              <a:t>향후 발전 및 기대방향</a:t>
            </a:r>
            <a:endParaRPr lang="ko-KR" sz="10300" b="0" i="0" u="none" strike="noStrike" spc="-800" dirty="0">
              <a:solidFill>
                <a:srgbClr val="3A4CA8"/>
              </a:solidFill>
              <a:ea typeface="Gmarket Sans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5067300"/>
            <a:ext cx="1651000" cy="196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600" y="3213100"/>
            <a:ext cx="4114800" cy="232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100" y="4038600"/>
            <a:ext cx="1778000" cy="1790700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03768EF-0DAA-8C64-1D07-99A32958D5D9}"/>
              </a:ext>
            </a:extLst>
          </p:cNvPr>
          <p:cNvSpPr txBox="1"/>
          <p:nvPr/>
        </p:nvSpPr>
        <p:spPr>
          <a:xfrm>
            <a:off x="8280400" y="70358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0604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7161143" y="4559300"/>
            <a:ext cx="13855700" cy="15862300"/>
          </a:xfrm>
          <a:prstGeom prst="rect">
            <a:avLst/>
          </a:prstGeom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82A82AD4-A993-093B-48D6-5FE1387B1F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458" y="2349500"/>
            <a:ext cx="8408196" cy="104521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3556000" y="-46863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652" y="2349500"/>
            <a:ext cx="8408196" cy="10452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273300" y="952500"/>
            <a:ext cx="53467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800" spc="-400">
                <a:solidFill>
                  <a:srgbClr val="3A4CA8"/>
                </a:solidFill>
                <a:ea typeface="Gmarket Sans Bold"/>
              </a:rPr>
              <a:t>향후발전 및 기대방향</a:t>
            </a:r>
            <a:endParaRPr lang="ko-KR" sz="4800" b="0" i="0" u="none" strike="noStrike" spc="-400" dirty="0">
              <a:solidFill>
                <a:srgbClr val="3A4CA8"/>
              </a:solidFill>
              <a:ea typeface="Gmarket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05</a:t>
            </a: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3892E500-0EA5-6203-EDE7-16E16FF35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617" y="2349500"/>
            <a:ext cx="4504267" cy="4504267"/>
          </a:xfrm>
          <a:prstGeom prst="rect">
            <a:avLst/>
          </a:prstGeom>
          <a:effectLst>
            <a:outerShdw blurRad="117134" dist="237426" dir="5400000">
              <a:srgbClr val="3A4CA8">
                <a:alpha val="27000"/>
              </a:srgbClr>
            </a:outerShdw>
          </a:effec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D3BE10BC-3B57-8CA9-DE87-57C33160FD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355" y="7378168"/>
            <a:ext cx="4853517" cy="4853517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F6DEE9DA-FB17-B979-F7E1-CA7402168CD9}"/>
              </a:ext>
            </a:extLst>
          </p:cNvPr>
          <p:cNvSpPr txBox="1"/>
          <p:nvPr/>
        </p:nvSpPr>
        <p:spPr>
          <a:xfrm>
            <a:off x="4201714" y="6618552"/>
            <a:ext cx="6146800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7BD0D9"/>
                </a:solidFill>
                <a:ea typeface="Gmarket Sans Bold"/>
              </a:rPr>
              <a:t>개인</a:t>
            </a:r>
            <a:r>
              <a:rPr lang="en-US" sz="4400" spc="-400" dirty="0">
                <a:solidFill>
                  <a:srgbClr val="7BD0D9"/>
                </a:solidFill>
                <a:latin typeface="Gmarket Sans Bold"/>
              </a:rPr>
              <a:t> </a:t>
            </a:r>
            <a:r>
              <a:rPr lang="ko-KR" altLang="en-US" sz="4400" spc="-400" dirty="0">
                <a:solidFill>
                  <a:srgbClr val="7BD0D9"/>
                </a:solidFill>
                <a:ea typeface="Gmarket Sans Bold"/>
              </a:rPr>
              <a:t>맞춤형</a:t>
            </a:r>
            <a:r>
              <a:rPr lang="en-US" sz="4400" spc="-400" dirty="0">
                <a:solidFill>
                  <a:srgbClr val="7BD0D9"/>
                </a:solidFill>
                <a:latin typeface="Gmarket Sans Bold"/>
              </a:rPr>
              <a:t> </a:t>
            </a:r>
            <a:r>
              <a:rPr lang="ko-KR" altLang="en-US" sz="4400" spc="-400" dirty="0">
                <a:solidFill>
                  <a:srgbClr val="7BD0D9"/>
                </a:solidFill>
                <a:ea typeface="Gmarket Sans Bold"/>
              </a:rPr>
              <a:t>건강관리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BD630EB-FA20-0377-5743-22D7CC1CDC24}"/>
              </a:ext>
            </a:extLst>
          </p:cNvPr>
          <p:cNvSpPr txBox="1"/>
          <p:nvPr/>
        </p:nvSpPr>
        <p:spPr>
          <a:xfrm>
            <a:off x="4408884" y="11361735"/>
            <a:ext cx="5706533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객관적인</a:t>
            </a:r>
            <a:r>
              <a:rPr lang="en-US" sz="4400" spc="-400" dirty="0">
                <a:solidFill>
                  <a:srgbClr val="56C5CE"/>
                </a:solidFill>
                <a:latin typeface="Gmarket Sans Bold"/>
              </a:rPr>
              <a:t> </a:t>
            </a: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영양제</a:t>
            </a:r>
            <a:r>
              <a:rPr lang="en-US" sz="4400" spc="-400" dirty="0">
                <a:solidFill>
                  <a:srgbClr val="56C5CE"/>
                </a:solidFill>
                <a:latin typeface="Gmarket Sans Bold"/>
              </a:rPr>
              <a:t> </a:t>
            </a: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추천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C44B20BF-A109-DA79-B54B-E748F91D74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924" y="7041091"/>
            <a:ext cx="4617509" cy="4617509"/>
          </a:xfrm>
          <a:prstGeom prst="rect">
            <a:avLst/>
          </a:prstGeom>
        </p:spPr>
      </p:pic>
      <p:pic>
        <p:nvPicPr>
          <p:cNvPr id="17" name="Picture 18">
            <a:extLst>
              <a:ext uri="{FF2B5EF4-FFF2-40B4-BE49-F238E27FC236}">
                <a16:creationId xmlns:a16="http://schemas.microsoft.com/office/drawing/2014/main" id="{61248A73-772E-2B7A-712B-86EA1A599E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9776" y="1969032"/>
            <a:ext cx="4893733" cy="4893733"/>
          </a:xfrm>
          <a:prstGeom prst="rect">
            <a:avLst/>
          </a:prstGeom>
        </p:spPr>
      </p:pic>
      <p:sp>
        <p:nvSpPr>
          <p:cNvPr id="18" name="TextBox 20">
            <a:extLst>
              <a:ext uri="{FF2B5EF4-FFF2-40B4-BE49-F238E27FC236}">
                <a16:creationId xmlns:a16="http://schemas.microsoft.com/office/drawing/2014/main" id="{7858A3B0-B343-CD1F-8AAE-4B58F768FC64}"/>
              </a:ext>
            </a:extLst>
          </p:cNvPr>
          <p:cNvSpPr txBox="1"/>
          <p:nvPr/>
        </p:nvSpPr>
        <p:spPr>
          <a:xfrm>
            <a:off x="14943009" y="6619082"/>
            <a:ext cx="6146800" cy="7958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66000"/>
              </a:lnSpc>
            </a:pPr>
            <a:r>
              <a:rPr lang="en-US" sz="4400" spc="-400" dirty="0">
                <a:solidFill>
                  <a:srgbClr val="56C5CE"/>
                </a:solidFill>
                <a:latin typeface="Gmarket Sans Bold"/>
              </a:rPr>
              <a:t>AI </a:t>
            </a: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기반</a:t>
            </a:r>
            <a:r>
              <a:rPr lang="en-US" sz="4400" spc="-400" dirty="0">
                <a:solidFill>
                  <a:srgbClr val="56C5CE"/>
                </a:solidFill>
                <a:latin typeface="Gmarket Sans Bold"/>
              </a:rPr>
              <a:t> </a:t>
            </a: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개인</a:t>
            </a:r>
            <a:r>
              <a:rPr lang="en-US" sz="4400" spc="-400" dirty="0">
                <a:solidFill>
                  <a:srgbClr val="56C5CE"/>
                </a:solidFill>
                <a:latin typeface="Gmarket Sans Bold"/>
              </a:rPr>
              <a:t> </a:t>
            </a: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영양비서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FD964DD-2787-C339-F5F8-354B3399D2DE}"/>
              </a:ext>
            </a:extLst>
          </p:cNvPr>
          <p:cNvSpPr txBox="1"/>
          <p:nvPr/>
        </p:nvSpPr>
        <p:spPr>
          <a:xfrm>
            <a:off x="15370576" y="11370733"/>
            <a:ext cx="4842933" cy="7789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전문가</a:t>
            </a:r>
            <a:r>
              <a:rPr lang="en-US" sz="4400" spc="-400" dirty="0">
                <a:solidFill>
                  <a:srgbClr val="56C5CE"/>
                </a:solidFill>
                <a:latin typeface="Gmarket Sans Bold"/>
              </a:rPr>
              <a:t> </a:t>
            </a: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상담</a:t>
            </a:r>
            <a:r>
              <a:rPr lang="en-US" sz="4400" spc="-400" dirty="0">
                <a:solidFill>
                  <a:srgbClr val="56C5CE"/>
                </a:solidFill>
                <a:latin typeface="Gmarket Sans Bold"/>
              </a:rPr>
              <a:t> </a:t>
            </a:r>
            <a:r>
              <a:rPr lang="ko-KR" altLang="en-US" sz="4400" spc="-400" dirty="0">
                <a:solidFill>
                  <a:srgbClr val="56C5CE"/>
                </a:solidFill>
                <a:ea typeface="Gmarket Sans Bold"/>
              </a:rPr>
              <a:t>서비스</a:t>
            </a:r>
          </a:p>
        </p:txBody>
      </p:sp>
    </p:spTree>
    <p:extLst>
      <p:ext uri="{BB962C8B-B14F-4D97-AF65-F5344CB8AC3E}">
        <p14:creationId xmlns:p14="http://schemas.microsoft.com/office/powerpoint/2010/main" val="157095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6827500" y="54356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46400" y="-5080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300" y="8902700"/>
            <a:ext cx="4940300" cy="4940300"/>
          </a:xfrm>
          <a:prstGeom prst="rect">
            <a:avLst/>
          </a:prstGeom>
          <a:effectLst>
            <a:outerShdw blurRad="486683" dist="532329" dir="2220000">
              <a:srgbClr val="000000">
                <a:alpha val="34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800" y="38227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0" y="736600"/>
            <a:ext cx="1473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444500"/>
            <a:ext cx="12319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400" y="10871200"/>
            <a:ext cx="3162300" cy="318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622300"/>
            <a:ext cx="2120900" cy="212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67600" y="5702300"/>
            <a:ext cx="9436100" cy="337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109"/>
              </a:lnSpc>
            </a:pPr>
            <a:r>
              <a:rPr lang="ko-KR" altLang="en-US" sz="10300" spc="-800" dirty="0">
                <a:solidFill>
                  <a:srgbClr val="3A4CA8"/>
                </a:solidFill>
                <a:ea typeface="Gmarket Sans Bold"/>
              </a:rPr>
              <a:t>시연 영상</a:t>
            </a:r>
            <a:endParaRPr lang="ko-KR" sz="10300" b="0" i="0" u="none" strike="noStrike" spc="-800" dirty="0">
              <a:solidFill>
                <a:srgbClr val="3A4CA8"/>
              </a:solidFill>
              <a:ea typeface="Gmarket Sans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5067300"/>
            <a:ext cx="1651000" cy="196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600" y="3213100"/>
            <a:ext cx="4114800" cy="232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100" y="4038600"/>
            <a:ext cx="1778000" cy="1790700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03768EF-0DAA-8C64-1D07-99A32958D5D9}"/>
              </a:ext>
            </a:extLst>
          </p:cNvPr>
          <p:cNvSpPr txBox="1"/>
          <p:nvPr/>
        </p:nvSpPr>
        <p:spPr>
          <a:xfrm>
            <a:off x="8280400" y="70358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06</a:t>
            </a:r>
          </a:p>
        </p:txBody>
      </p:sp>
      <p:pic>
        <p:nvPicPr>
          <p:cNvPr id="11" name="KakaoTalk_20240826_100151485">
            <a:hlinkClick r:id="" action="ppaction://media"/>
            <a:extLst>
              <a:ext uri="{FF2B5EF4-FFF2-40B4-BE49-F238E27FC236}">
                <a16:creationId xmlns:a16="http://schemas.microsoft.com/office/drawing/2014/main" id="{26B42FF5-B2B2-4200-B416-A435944BC4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5400" y="730250"/>
            <a:ext cx="24358600" cy="1217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6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  <p:bldLst>
      <p:bldP spid="10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6827500" y="5435600"/>
            <a:ext cx="13855700" cy="15862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46400" y="-5080000"/>
            <a:ext cx="12103100" cy="1352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300" y="8902700"/>
            <a:ext cx="4940300" cy="4940300"/>
          </a:xfrm>
          <a:prstGeom prst="rect">
            <a:avLst/>
          </a:prstGeom>
          <a:effectLst>
            <a:outerShdw blurRad="486683" dist="532329" dir="2220000">
              <a:srgbClr val="000000">
                <a:alpha val="34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800" y="3822700"/>
            <a:ext cx="8953500" cy="8953500"/>
          </a:xfrm>
          <a:prstGeom prst="rect">
            <a:avLst/>
          </a:prstGeom>
          <a:effectLst>
            <a:outerShdw blurRad="798111" dist="826336" dir="2700000">
              <a:srgbClr val="000000">
                <a:alpha val="31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0" y="736600"/>
            <a:ext cx="14732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444500"/>
            <a:ext cx="1231900" cy="1244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0400" y="10871200"/>
            <a:ext cx="3162300" cy="318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622300"/>
            <a:ext cx="2120900" cy="212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467600" y="5702300"/>
            <a:ext cx="9436100" cy="337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7109"/>
              </a:lnSpc>
            </a:pPr>
            <a:r>
              <a:rPr lang="ko-KR" altLang="en-US" sz="10300" b="0" i="0" u="none" strike="noStrike" spc="-800" dirty="0">
                <a:solidFill>
                  <a:srgbClr val="3A4CA8"/>
                </a:solidFill>
                <a:ea typeface="Gmarket Sans Bold"/>
              </a:rPr>
              <a:t>팀원소개</a:t>
            </a:r>
            <a:endParaRPr lang="ko-KR" sz="10300" b="0" i="0" u="none" strike="noStrike" spc="-800" dirty="0">
              <a:solidFill>
                <a:srgbClr val="3A4CA8"/>
              </a:solidFill>
              <a:ea typeface="Gmarket Sans Bold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5067300"/>
            <a:ext cx="1651000" cy="196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600" y="3213100"/>
            <a:ext cx="4114800" cy="2324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100" y="4038600"/>
            <a:ext cx="1778000" cy="1790700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03768EF-0DAA-8C64-1D07-99A32958D5D9}"/>
              </a:ext>
            </a:extLst>
          </p:cNvPr>
          <p:cNvSpPr txBox="1"/>
          <p:nvPr/>
        </p:nvSpPr>
        <p:spPr>
          <a:xfrm>
            <a:off x="8280400" y="7035800"/>
            <a:ext cx="9652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3">
            <a:extLst>
              <a:ext uri="{FF2B5EF4-FFF2-40B4-BE49-F238E27FC236}">
                <a16:creationId xmlns:a16="http://schemas.microsoft.com/office/drawing/2014/main" id="{2527451A-93D9-1449-A9CE-FBF42D539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22" y="11674257"/>
            <a:ext cx="3810000" cy="384386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7157700" y="4559300"/>
            <a:ext cx="13855700" cy="158623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4745377" y="-4448351"/>
            <a:ext cx="12103100" cy="13525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273300" y="952500"/>
            <a:ext cx="53467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800" b="0" i="0" u="none" strike="noStrike" spc="-400" dirty="0">
                <a:solidFill>
                  <a:srgbClr val="3A4CA8"/>
                </a:solidFill>
                <a:ea typeface="Gmarket Sans Bold"/>
              </a:rPr>
              <a:t>팀원 소개</a:t>
            </a:r>
            <a:endParaRPr lang="ko-KR" sz="4800" b="0" i="0" u="none" strike="noStrike" spc="-400" dirty="0">
              <a:solidFill>
                <a:srgbClr val="3A4CA8"/>
              </a:solidFill>
              <a:ea typeface="Gmarket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1600" y="1079500"/>
            <a:ext cx="965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6C5CE"/>
                </a:solidFill>
                <a:latin typeface="Gmarket Sans Bold" panose="020B0600000101010101" charset="-127"/>
              </a:rPr>
              <a:t>06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D60888DD-300D-4B07-B35C-F15DCC0BB45C}"/>
              </a:ext>
            </a:extLst>
          </p:cNvPr>
          <p:cNvSpPr txBox="1"/>
          <p:nvPr/>
        </p:nvSpPr>
        <p:spPr>
          <a:xfrm>
            <a:off x="990600" y="10287000"/>
            <a:ext cx="4258296" cy="1660214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프로젝트 관리 및 </a:t>
            </a: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DB</a:t>
            </a:r>
          </a:p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게시판 기능 구현</a:t>
            </a:r>
            <a:endParaRPr lang="en-US" altLang="ko-KR" sz="2667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카카오 로그인 </a:t>
            </a: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API</a:t>
            </a:r>
            <a:endParaRPr lang="ko-KR" altLang="en-US" sz="2667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53D240A4-3943-443C-A2CB-2D686B9A62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426" y="4785565"/>
            <a:ext cx="3919227" cy="3919227"/>
          </a:xfrm>
          <a:prstGeom prst="rect">
            <a:avLst/>
          </a:prstGeom>
        </p:spPr>
      </p:pic>
      <p:sp>
        <p:nvSpPr>
          <p:cNvPr id="29" name="TextBox 20">
            <a:extLst>
              <a:ext uri="{FF2B5EF4-FFF2-40B4-BE49-F238E27FC236}">
                <a16:creationId xmlns:a16="http://schemas.microsoft.com/office/drawing/2014/main" id="{F0632BA3-6CB6-44AE-AF46-511D3EE7A17C}"/>
              </a:ext>
            </a:extLst>
          </p:cNvPr>
          <p:cNvSpPr txBox="1"/>
          <p:nvPr/>
        </p:nvSpPr>
        <p:spPr>
          <a:xfrm>
            <a:off x="2087629" y="8690771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 err="1">
                <a:solidFill>
                  <a:srgbClr val="56C5CE"/>
                </a:solidFill>
                <a:latin typeface="Gmarket Sans Bold" panose="020B0600000101010101" charset="-127"/>
                <a:ea typeface="Gmarket Sans Bold" panose="020B0600000101010101" charset="-127"/>
              </a:rPr>
              <a:t>김소리</a:t>
            </a:r>
            <a:endParaRPr lang="ko-KR" altLang="en-US" sz="4400" spc="-400" dirty="0">
              <a:solidFill>
                <a:srgbClr val="56C5CE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2C936E2F-8C75-4BFD-BF03-C40D3EB07595}"/>
              </a:ext>
            </a:extLst>
          </p:cNvPr>
          <p:cNvSpPr txBox="1"/>
          <p:nvPr/>
        </p:nvSpPr>
        <p:spPr>
          <a:xfrm>
            <a:off x="1412253" y="9474200"/>
            <a:ext cx="3540747" cy="736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16199"/>
              </a:lnSpc>
            </a:pPr>
            <a:r>
              <a:rPr lang="en-US" altLang="ko-KR" sz="4800" dirty="0">
                <a:solidFill>
                  <a:srgbClr val="3A4CA8"/>
                </a:solidFill>
                <a:latin typeface="Gmarket Sans Bold" panose="020B0600000101010101" charset="-127"/>
                <a:ea typeface="Gmarket Sans Bold" panose="020B0600000101010101" charset="-127"/>
              </a:rPr>
              <a:t>Back-End</a:t>
            </a:r>
            <a:endParaRPr lang="ko-KR" altLang="en-US" sz="4800" dirty="0">
              <a:solidFill>
                <a:srgbClr val="3A4CA8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5431C1CF-5529-E68A-C10A-783D6AFCD7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00" y="-1598080"/>
            <a:ext cx="3928533" cy="3928533"/>
          </a:xfrm>
          <a:prstGeom prst="rect">
            <a:avLst/>
          </a:prstGeom>
        </p:spPr>
      </p:pic>
      <p:sp>
        <p:nvSpPr>
          <p:cNvPr id="4" name="TextBox 20">
            <a:extLst>
              <a:ext uri="{FF2B5EF4-FFF2-40B4-BE49-F238E27FC236}">
                <a16:creationId xmlns:a16="http://schemas.microsoft.com/office/drawing/2014/main" id="{BD079DD0-01D6-B8B5-ED5D-1019733B76C7}"/>
              </a:ext>
            </a:extLst>
          </p:cNvPr>
          <p:cNvSpPr txBox="1"/>
          <p:nvPr/>
        </p:nvSpPr>
        <p:spPr>
          <a:xfrm>
            <a:off x="2137945" y="3505200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FF9900"/>
                </a:solidFill>
                <a:ea typeface="Gmarket Sans Bold"/>
              </a:rPr>
              <a:t>팀장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3F2AFB18-3C72-87A6-B8BC-5DEF533CFB84}"/>
              </a:ext>
            </a:extLst>
          </p:cNvPr>
          <p:cNvSpPr txBox="1"/>
          <p:nvPr/>
        </p:nvSpPr>
        <p:spPr>
          <a:xfrm>
            <a:off x="6165497" y="10303186"/>
            <a:ext cx="3207103" cy="1660214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AI API </a:t>
            </a: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적용</a:t>
            </a:r>
            <a:endParaRPr lang="en-US" altLang="ko-KR" sz="2667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산출문서 작성</a:t>
            </a: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ko-KR" altLang="en-US" sz="2667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F870974-1BA9-973A-F7AE-79C4130801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00869" y="4801751"/>
            <a:ext cx="3911527" cy="3919227"/>
          </a:xfrm>
          <a:prstGeom prst="rect">
            <a:avLst/>
          </a:prstGeom>
        </p:spPr>
      </p:pic>
      <p:sp>
        <p:nvSpPr>
          <p:cNvPr id="15" name="TextBox 20">
            <a:extLst>
              <a:ext uri="{FF2B5EF4-FFF2-40B4-BE49-F238E27FC236}">
                <a16:creationId xmlns:a16="http://schemas.microsoft.com/office/drawing/2014/main" id="{0C27A7C8-DFDE-2C36-0C22-B3021D8A4B4B}"/>
              </a:ext>
            </a:extLst>
          </p:cNvPr>
          <p:cNvSpPr txBox="1"/>
          <p:nvPr/>
        </p:nvSpPr>
        <p:spPr>
          <a:xfrm>
            <a:off x="6720222" y="8706957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 err="1">
                <a:solidFill>
                  <a:srgbClr val="56C5CE"/>
                </a:solidFill>
                <a:latin typeface="Gmarket Sans Bold" panose="020B0600000101010101" charset="-127"/>
                <a:ea typeface="Gmarket Sans Bold" panose="020B0600000101010101" charset="-127"/>
              </a:rPr>
              <a:t>고우석</a:t>
            </a:r>
            <a:endParaRPr lang="ko-KR" altLang="en-US" sz="4400" spc="-400" dirty="0">
              <a:solidFill>
                <a:srgbClr val="56C5CE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9C5BBB82-729B-5C54-5FB7-B7B383C942C5}"/>
              </a:ext>
            </a:extLst>
          </p:cNvPr>
          <p:cNvSpPr txBox="1"/>
          <p:nvPr/>
        </p:nvSpPr>
        <p:spPr>
          <a:xfrm>
            <a:off x="6136653" y="9550400"/>
            <a:ext cx="3540747" cy="736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16199"/>
              </a:lnSpc>
            </a:pPr>
            <a:r>
              <a:rPr lang="en-US" altLang="ko-KR" sz="4800" dirty="0">
                <a:solidFill>
                  <a:srgbClr val="3A4CA8"/>
                </a:solidFill>
                <a:latin typeface="Gmarket Sans Bold" panose="020B0600000101010101" charset="-127"/>
                <a:ea typeface="Gmarket Sans Bold" panose="020B0600000101010101" charset="-127"/>
              </a:rPr>
              <a:t>Back-End</a:t>
            </a:r>
            <a:endParaRPr lang="ko-KR" altLang="en-US" sz="4800" dirty="0">
              <a:solidFill>
                <a:srgbClr val="3A4CA8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96DEC72F-D34F-BBF7-328E-D1B2C5BFA95A}"/>
              </a:ext>
            </a:extLst>
          </p:cNvPr>
          <p:cNvSpPr txBox="1"/>
          <p:nvPr/>
        </p:nvSpPr>
        <p:spPr>
          <a:xfrm>
            <a:off x="6770538" y="3521386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ea typeface="Gmarket Sans Bold"/>
              </a:rPr>
              <a:t>팀원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DD06AB9-4BB5-BEC4-3FE4-8C8A1C5000A8}"/>
              </a:ext>
            </a:extLst>
          </p:cNvPr>
          <p:cNvSpPr txBox="1"/>
          <p:nvPr/>
        </p:nvSpPr>
        <p:spPr>
          <a:xfrm>
            <a:off x="10744200" y="10287000"/>
            <a:ext cx="3065530" cy="1660214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UI </a:t>
            </a: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최적화</a:t>
            </a:r>
            <a:endParaRPr lang="en-US" altLang="ko-KR" sz="2667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산출문서 작성</a:t>
            </a: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ko-KR" altLang="en-US" sz="2667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6DDCAA7-7370-0099-6D1D-7535AAAB51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4676" y="4785565"/>
            <a:ext cx="3911527" cy="3919227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B3DD127C-74B3-4641-08FF-B3B61A199EAE}"/>
              </a:ext>
            </a:extLst>
          </p:cNvPr>
          <p:cNvSpPr txBox="1"/>
          <p:nvPr/>
        </p:nvSpPr>
        <p:spPr>
          <a:xfrm>
            <a:off x="11384029" y="8690771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 err="1">
                <a:solidFill>
                  <a:srgbClr val="56C5CE"/>
                </a:solidFill>
                <a:latin typeface="Gmarket Sans Bold" panose="020B0600000101010101" charset="-127"/>
                <a:ea typeface="Gmarket Sans Bold" panose="020B0600000101010101" charset="-127"/>
              </a:rPr>
              <a:t>강수민</a:t>
            </a:r>
            <a:endParaRPr lang="ko-KR" altLang="en-US" sz="4400" spc="-400" dirty="0">
              <a:solidFill>
                <a:srgbClr val="56C5CE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41B76527-74CF-89E1-2A8D-BD375DFEB9EB}"/>
              </a:ext>
            </a:extLst>
          </p:cNvPr>
          <p:cNvSpPr txBox="1"/>
          <p:nvPr/>
        </p:nvSpPr>
        <p:spPr>
          <a:xfrm>
            <a:off x="10632453" y="9550400"/>
            <a:ext cx="3540747" cy="736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16199"/>
              </a:lnSpc>
            </a:pPr>
            <a:r>
              <a:rPr lang="en-US" altLang="ko-KR" sz="4800" dirty="0">
                <a:solidFill>
                  <a:srgbClr val="3A4CA8"/>
                </a:solidFill>
                <a:latin typeface="Gmarket Sans Bold" panose="020B0600000101010101" charset="-127"/>
                <a:ea typeface="Gmarket Sans Bold" panose="020B0600000101010101" charset="-127"/>
              </a:rPr>
              <a:t>Front-End</a:t>
            </a:r>
            <a:endParaRPr lang="ko-KR" altLang="en-US" sz="4800" dirty="0">
              <a:solidFill>
                <a:srgbClr val="3A4CA8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A4765A87-CC47-DFDF-DA81-4B8B0C9F6EF5}"/>
              </a:ext>
            </a:extLst>
          </p:cNvPr>
          <p:cNvSpPr txBox="1"/>
          <p:nvPr/>
        </p:nvSpPr>
        <p:spPr>
          <a:xfrm>
            <a:off x="11434345" y="3505200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ea typeface="Gmarket Sans Bold"/>
              </a:rPr>
              <a:t>팀원</a:t>
            </a: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B8B7AC9C-6093-8484-9D29-FAA7FAA4DC48}"/>
              </a:ext>
            </a:extLst>
          </p:cNvPr>
          <p:cNvSpPr txBox="1"/>
          <p:nvPr/>
        </p:nvSpPr>
        <p:spPr>
          <a:xfrm>
            <a:off x="15356853" y="10226986"/>
            <a:ext cx="3540747" cy="1660214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UI </a:t>
            </a: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디자인</a:t>
            </a:r>
            <a:endParaRPr lang="en-US" altLang="ko-KR" sz="2667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Views </a:t>
            </a:r>
            <a:r>
              <a:rPr lang="en-US" altLang="ko-KR" sz="2667" dirty="0" err="1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jsp</a:t>
            </a: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적용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6BAAC834-A595-B929-242F-2F1A199E43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69224" y="4725551"/>
            <a:ext cx="3703631" cy="3919227"/>
          </a:xfrm>
          <a:prstGeom prst="rect">
            <a:avLst/>
          </a:prstGeom>
        </p:spPr>
      </p:pic>
      <p:sp>
        <p:nvSpPr>
          <p:cNvPr id="42" name="TextBox 20">
            <a:extLst>
              <a:ext uri="{FF2B5EF4-FFF2-40B4-BE49-F238E27FC236}">
                <a16:creationId xmlns:a16="http://schemas.microsoft.com/office/drawing/2014/main" id="{BB74E387-AA14-077E-2E40-76ECB43582B6}"/>
              </a:ext>
            </a:extLst>
          </p:cNvPr>
          <p:cNvSpPr txBox="1"/>
          <p:nvPr/>
        </p:nvSpPr>
        <p:spPr>
          <a:xfrm>
            <a:off x="16184629" y="8630757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 err="1">
                <a:solidFill>
                  <a:srgbClr val="56C5CE"/>
                </a:solidFill>
                <a:latin typeface="Gmarket Sans Bold" panose="020B0600000101010101" charset="-127"/>
                <a:ea typeface="Gmarket Sans Bold" panose="020B0600000101010101" charset="-127"/>
              </a:rPr>
              <a:t>문지해</a:t>
            </a:r>
            <a:endParaRPr lang="ko-KR" altLang="en-US" sz="4400" spc="-400" dirty="0">
              <a:solidFill>
                <a:srgbClr val="56C5CE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F02E1571-8F04-9BBB-0BAB-787673D17229}"/>
              </a:ext>
            </a:extLst>
          </p:cNvPr>
          <p:cNvSpPr txBox="1"/>
          <p:nvPr/>
        </p:nvSpPr>
        <p:spPr>
          <a:xfrm>
            <a:off x="16234945" y="3445186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ea typeface="Gmarket Sans Bold"/>
              </a:rPr>
              <a:t>팀원</a:t>
            </a: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48CB6423-286D-A372-B9C5-C99449D1C6F3}"/>
              </a:ext>
            </a:extLst>
          </p:cNvPr>
          <p:cNvSpPr txBox="1"/>
          <p:nvPr/>
        </p:nvSpPr>
        <p:spPr>
          <a:xfrm>
            <a:off x="19735800" y="10303186"/>
            <a:ext cx="4258296" cy="1660214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네이버 로그인 </a:t>
            </a: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API</a:t>
            </a:r>
          </a:p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서버와 클라이언트 연결</a:t>
            </a:r>
            <a:endParaRPr lang="en-US" altLang="ko-KR" sz="2667" dirty="0">
              <a:solidFill>
                <a:srgbClr val="3A4CA8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761981" indent="-761981">
              <a:lnSpc>
                <a:spcPct val="116199"/>
              </a:lnSpc>
              <a:buFontTx/>
              <a:buChar char="-"/>
            </a:pPr>
            <a:r>
              <a:rPr lang="en-US" altLang="ko-KR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DB </a:t>
            </a:r>
            <a:r>
              <a:rPr lang="ko-KR" altLang="en-US" sz="2667" dirty="0">
                <a:solidFill>
                  <a:srgbClr val="3A4CA8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연결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32ACFBF2-C441-FC5C-1942-9E0F5EC9C6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09626" y="4709365"/>
            <a:ext cx="3919227" cy="3919227"/>
          </a:xfrm>
          <a:prstGeom prst="rect">
            <a:avLst/>
          </a:prstGeom>
        </p:spPr>
      </p:pic>
      <p:sp>
        <p:nvSpPr>
          <p:cNvPr id="47" name="TextBox 20">
            <a:extLst>
              <a:ext uri="{FF2B5EF4-FFF2-40B4-BE49-F238E27FC236}">
                <a16:creationId xmlns:a16="http://schemas.microsoft.com/office/drawing/2014/main" id="{EA77371D-B364-B264-CAEE-B6C7E3A518A7}"/>
              </a:ext>
            </a:extLst>
          </p:cNvPr>
          <p:cNvSpPr txBox="1"/>
          <p:nvPr/>
        </p:nvSpPr>
        <p:spPr>
          <a:xfrm>
            <a:off x="20832829" y="8614571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solidFill>
                  <a:srgbClr val="56C5CE"/>
                </a:solidFill>
                <a:latin typeface="Gmarket Sans Bold" panose="020B0600000101010101" charset="-127"/>
                <a:ea typeface="Gmarket Sans Bold" panose="020B0600000101010101" charset="-127"/>
              </a:rPr>
              <a:t>정유진</a:t>
            </a:r>
          </a:p>
        </p:txBody>
      </p:sp>
      <p:sp>
        <p:nvSpPr>
          <p:cNvPr id="49" name="TextBox 20">
            <a:extLst>
              <a:ext uri="{FF2B5EF4-FFF2-40B4-BE49-F238E27FC236}">
                <a16:creationId xmlns:a16="http://schemas.microsoft.com/office/drawing/2014/main" id="{B26F179B-422B-99EE-0720-4675048E3AF9}"/>
              </a:ext>
            </a:extLst>
          </p:cNvPr>
          <p:cNvSpPr txBox="1"/>
          <p:nvPr/>
        </p:nvSpPr>
        <p:spPr>
          <a:xfrm>
            <a:off x="20883145" y="3429000"/>
            <a:ext cx="1968501" cy="729192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66000"/>
              </a:lnSpc>
            </a:pPr>
            <a:r>
              <a:rPr lang="ko-KR" altLang="en-US" sz="4400" spc="-400" dirty="0">
                <a:ea typeface="Gmarket Sans Bold"/>
              </a:rPr>
              <a:t>팀원</a:t>
            </a: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C92B1247-0109-C0A3-9FAC-FB3EAD322EFB}"/>
              </a:ext>
            </a:extLst>
          </p:cNvPr>
          <p:cNvSpPr txBox="1"/>
          <p:nvPr/>
        </p:nvSpPr>
        <p:spPr>
          <a:xfrm>
            <a:off x="15468600" y="9474200"/>
            <a:ext cx="3540747" cy="736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16199"/>
              </a:lnSpc>
            </a:pPr>
            <a:r>
              <a:rPr lang="en-US" altLang="ko-KR" sz="4800" dirty="0">
                <a:solidFill>
                  <a:srgbClr val="3A4CA8"/>
                </a:solidFill>
                <a:latin typeface="Gmarket Sans Bold" panose="020B0600000101010101" charset="-127"/>
                <a:ea typeface="Gmarket Sans Bold" panose="020B0600000101010101" charset="-127"/>
              </a:rPr>
              <a:t>Front-End</a:t>
            </a:r>
            <a:endParaRPr lang="ko-KR" altLang="en-US" sz="4800" dirty="0">
              <a:solidFill>
                <a:srgbClr val="3A4CA8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51" name="TextBox 9">
            <a:extLst>
              <a:ext uri="{FF2B5EF4-FFF2-40B4-BE49-F238E27FC236}">
                <a16:creationId xmlns:a16="http://schemas.microsoft.com/office/drawing/2014/main" id="{AFB24706-AAF0-5962-CDAC-1507E30A84B9}"/>
              </a:ext>
            </a:extLst>
          </p:cNvPr>
          <p:cNvSpPr txBox="1"/>
          <p:nvPr/>
        </p:nvSpPr>
        <p:spPr>
          <a:xfrm>
            <a:off x="20233653" y="9448800"/>
            <a:ext cx="3540747" cy="7366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16199"/>
              </a:lnSpc>
            </a:pPr>
            <a:r>
              <a:rPr lang="en-US" altLang="ko-KR" sz="4800" dirty="0">
                <a:solidFill>
                  <a:srgbClr val="3A4CA8"/>
                </a:solidFill>
                <a:latin typeface="Gmarket Sans Bold" panose="020B0600000101010101" charset="-127"/>
                <a:ea typeface="Gmarket Sans Bold" panose="020B0600000101010101" charset="-127"/>
              </a:rPr>
              <a:t>Back-End</a:t>
            </a:r>
            <a:endParaRPr lang="ko-KR" altLang="en-US" sz="4800" dirty="0">
              <a:solidFill>
                <a:srgbClr val="3A4CA8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665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3" grpId="0"/>
      <p:bldP spid="4" grpId="0"/>
      <p:bldP spid="13" grpId="0"/>
      <p:bldP spid="15" grpId="0"/>
      <p:bldP spid="16" grpId="0"/>
      <p:bldP spid="17" grpId="0"/>
      <p:bldP spid="18" grpId="0"/>
      <p:bldP spid="20" grpId="0"/>
      <p:bldP spid="38" grpId="0"/>
      <p:bldP spid="39" grpId="0"/>
      <p:bldP spid="40" grpId="0"/>
      <p:bldP spid="42" grpId="0"/>
      <p:bldP spid="44" grpId="0"/>
      <p:bldP spid="45" grpId="0"/>
      <p:bldP spid="47" grpId="0"/>
      <p:bldP spid="49" grpId="0"/>
      <p:bldP spid="50" grpId="0"/>
      <p:bldP spid="5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5494000" y="3860800"/>
            <a:ext cx="13851467" cy="1586653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912533" y="-5266267"/>
            <a:ext cx="12107333" cy="1351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16200000">
            <a:off x="9533467" y="-5350934"/>
            <a:ext cx="5249333" cy="244178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567333" y="-5334000"/>
            <a:ext cx="5266267" cy="2438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8534" y="10126134"/>
            <a:ext cx="5249333" cy="524933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462933" y="16934"/>
            <a:ext cx="389467" cy="2546773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800" y="4622800"/>
            <a:ext cx="3623733" cy="362373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3200" y="1473200"/>
            <a:ext cx="1473200" cy="1761067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330267" y="5283200"/>
            <a:ext cx="6062133" cy="320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0" spc="-1867" dirty="0">
                <a:solidFill>
                  <a:srgbClr val="3A4CA8"/>
                </a:solidFill>
                <a:latin typeface="Gmarket Sans Bold"/>
              </a:rPr>
              <a:t>Q&amp;A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11463867" y="-11599333"/>
            <a:ext cx="389467" cy="254677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408</Words>
  <Application>Microsoft Office PowerPoint</Application>
  <PresentationFormat>사용자 지정</PresentationFormat>
  <Paragraphs>203</Paragraphs>
  <Slides>26</Slides>
  <Notes>13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Calibri</vt:lpstr>
      <vt:lpstr>맑은 고딕</vt:lpstr>
      <vt:lpstr>Gmarket Sans Bold</vt:lpstr>
      <vt:lpstr>Arial</vt:lpstr>
      <vt:lpstr>Gmarket Sans Medium</vt:lpstr>
      <vt:lpstr>Hallym Gothic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김호현</dc:creator>
  <cp:lastModifiedBy>Yujin lang</cp:lastModifiedBy>
  <cp:revision>24</cp:revision>
  <dcterms:created xsi:type="dcterms:W3CDTF">2006-08-16T00:00:00Z</dcterms:created>
  <dcterms:modified xsi:type="dcterms:W3CDTF">2024-08-26T01:05:48Z</dcterms:modified>
</cp:coreProperties>
</file>